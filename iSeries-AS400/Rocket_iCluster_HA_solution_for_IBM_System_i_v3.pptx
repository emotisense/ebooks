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69" r:id="rId3"/>
    <p:sldId id="270" r:id="rId4"/>
    <p:sldId id="271" r:id="rId5"/>
    <p:sldId id="272" r:id="rId6"/>
    <p:sldId id="284" r:id="rId7"/>
    <p:sldId id="285" r:id="rId8"/>
    <p:sldId id="274" r:id="rId9"/>
    <p:sldId id="257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61" r:id="rId19"/>
    <p:sldId id="263" r:id="rId20"/>
    <p:sldId id="265" r:id="rId21"/>
    <p:sldId id="266" r:id="rId22"/>
    <p:sldId id="283" r:id="rId23"/>
    <p:sldId id="268" r:id="rId2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25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2492375"/>
            <a:ext cx="7772400" cy="1296988"/>
          </a:xfrm>
        </p:spPr>
        <p:txBody>
          <a:bodyPr/>
          <a:lstStyle>
            <a:lvl1pPr algn="ctr">
              <a:defRPr sz="3600" b="1">
                <a:solidFill>
                  <a:srgbClr val="990033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es-ES" altLang="zh-CN" noProof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31913" y="4292600"/>
            <a:ext cx="6400800" cy="838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1">
                <a:solidFill>
                  <a:srgbClr val="990033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s-ES" altLang="zh-CN" noProof="0" smtClean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</p:spPr>
        <p:txBody>
          <a:bodyPr anchor="t"/>
          <a:lstStyle>
            <a:lvl1pPr algn="l">
              <a:defRPr/>
            </a:lvl1pPr>
          </a:lstStyle>
          <a:p>
            <a:fld id="{E91877DF-3E30-4654-928A-1DDDDAB872B2}" type="datetimeFigureOut">
              <a:rPr lang="zh-CN" altLang="en-US" smtClean="0"/>
              <a:pPr/>
              <a:t>2013/12/30</a:t>
            </a:fld>
            <a:endParaRPr lang="zh-CN" alt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algn="ctr">
              <a:defRPr sz="1400" b="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</p:spPr>
        <p:txBody>
          <a:bodyPr anchor="t"/>
          <a:lstStyle>
            <a:lvl1pPr algn="r">
              <a:defRPr/>
            </a:lvl1pPr>
          </a:lstStyle>
          <a:p>
            <a:fld id="{45787623-3ABB-4867-A7B1-92B297BA915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38868" y="260648"/>
            <a:ext cx="1309196" cy="202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1877DF-3E30-4654-928A-1DDDDAB872B2}" type="datetimeFigureOut">
              <a:rPr lang="zh-CN" altLang="en-US" smtClean="0"/>
              <a:pPr/>
              <a:t>2013/12/30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95536" y="6237312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5787623-3ABB-4867-A7B1-92B297BA915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80302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1877DF-3E30-4654-928A-1DDDDAB872B2}" type="datetimeFigureOut">
              <a:rPr lang="zh-CN" altLang="en-US" smtClean="0"/>
              <a:pPr/>
              <a:t>2013/12/30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787623-3ABB-4867-A7B1-92B297BA915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63475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8150" y="1484313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484313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1877DF-3E30-4654-928A-1DDDDAB872B2}" type="datetimeFigureOut">
              <a:rPr lang="zh-CN" altLang="en-US" smtClean="0"/>
              <a:pPr/>
              <a:t>2013/12/30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787623-3ABB-4867-A7B1-92B297BA915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892301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1877DF-3E30-4654-928A-1DDDDAB872B2}" type="datetimeFigureOut">
              <a:rPr lang="zh-CN" altLang="en-US" smtClean="0"/>
              <a:pPr/>
              <a:t>2013/12/30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787623-3ABB-4867-A7B1-92B297BA915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97212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1877DF-3E30-4654-928A-1DDDDAB872B2}" type="datetimeFigureOut">
              <a:rPr lang="zh-CN" altLang="en-US" smtClean="0"/>
              <a:pPr/>
              <a:t>2013/12/30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787623-3ABB-4867-A7B1-92B297BA915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198170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1877DF-3E30-4654-928A-1DDDDAB872B2}" type="datetimeFigureOut">
              <a:rPr lang="zh-CN" altLang="en-US" smtClean="0"/>
              <a:pPr/>
              <a:t>2013/12/30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787623-3ABB-4867-A7B1-92B297BA915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667563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1877DF-3E30-4654-928A-1DDDDAB872B2}" type="datetimeFigureOut">
              <a:rPr lang="zh-CN" altLang="en-US" smtClean="0"/>
              <a:pPr/>
              <a:t>2013/12/30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787623-3ABB-4867-A7B1-92B297BA915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973798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1877DF-3E30-4654-928A-1DDDDAB872B2}" type="datetimeFigureOut">
              <a:rPr lang="zh-CN" altLang="en-US" smtClean="0"/>
              <a:pPr/>
              <a:t>2013/12/30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787623-3ABB-4867-A7B1-92B297BA915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423721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1877DF-3E30-4654-928A-1DDDDAB872B2}" type="datetimeFigureOut">
              <a:rPr lang="zh-CN" altLang="en-US" smtClean="0"/>
              <a:pPr/>
              <a:t>2013/12/30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787623-3ABB-4867-A7B1-92B297BA915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56505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1016000"/>
            <a:ext cx="2057400" cy="49942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38150" y="1016000"/>
            <a:ext cx="6019800" cy="49942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1877DF-3E30-4654-928A-1DDDDAB872B2}" type="datetimeFigureOut">
              <a:rPr lang="zh-CN" altLang="en-US" smtClean="0"/>
              <a:pPr/>
              <a:t>2013/12/30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787623-3ABB-4867-A7B1-92B297BA915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404854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150" y="1016000"/>
            <a:ext cx="8229600" cy="3460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38150" y="1484313"/>
            <a:ext cx="8229600" cy="4525962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88125" y="2603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91877DF-3E30-4654-928A-1DDDDAB872B2}" type="datetimeFigureOut">
              <a:rPr lang="zh-CN" altLang="en-US" smtClean="0"/>
              <a:pPr/>
              <a:t>2013/12/30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68313" y="228600"/>
            <a:ext cx="820737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821113" y="6265863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5787623-3ABB-4867-A7B1-92B297BA915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706529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8150" y="1016000"/>
            <a:ext cx="8229600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 smtClean="0"/>
              <a:t>Títol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8150" y="1484313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 smtClean="0"/>
              <a:t>Feu clic aquí per editar els estils de text del patró</a:t>
            </a:r>
          </a:p>
          <a:p>
            <a:pPr lvl="1"/>
            <a:r>
              <a:rPr lang="es-ES" altLang="zh-CN" smtClean="0"/>
              <a:t>Segon nivell</a:t>
            </a:r>
          </a:p>
          <a:p>
            <a:pPr lvl="2"/>
            <a:r>
              <a:rPr lang="es-ES" altLang="zh-CN" smtClean="0"/>
              <a:t>Tercer nivell</a:t>
            </a:r>
          </a:p>
          <a:p>
            <a:pPr lvl="3"/>
            <a:endParaRPr lang="es-ES" altLang="zh-CN" smtClean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88125" y="2603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91877DF-3E30-4654-928A-1DDDDAB872B2}" type="datetimeFigureOut">
              <a:rPr lang="zh-CN" altLang="en-US" smtClean="0"/>
              <a:pPr/>
              <a:t>2013/12/30</a:t>
            </a:fld>
            <a:endParaRPr lang="zh-CN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8313" y="228600"/>
            <a:ext cx="82073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2400" b="1">
                <a:solidFill>
                  <a:srgbClr val="990033"/>
                </a:solidFill>
                <a:ea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21113" y="6265863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fld id="{45787623-3ABB-4867-A7B1-92B297BA915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103" name="Line 7"/>
          <p:cNvSpPr>
            <a:spLocks noChangeShapeType="1"/>
          </p:cNvSpPr>
          <p:nvPr/>
        </p:nvSpPr>
        <p:spPr bwMode="auto">
          <a:xfrm>
            <a:off x="425450" y="728663"/>
            <a:ext cx="8353425" cy="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8" name="Text Box 12"/>
          <p:cNvSpPr txBox="1">
            <a:spLocks noChangeArrowheads="1"/>
          </p:cNvSpPr>
          <p:nvPr/>
        </p:nvSpPr>
        <p:spPr bwMode="auto">
          <a:xfrm>
            <a:off x="7164388" y="211138"/>
            <a:ext cx="1584325" cy="4270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endParaRPr lang="ca-ES" altLang="zh-CN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40352" y="6018471"/>
            <a:ext cx="92392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Font typeface="Wingdings" pitchFamily="2" charset="2"/>
        <a:buChar char="q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Font typeface="Arial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990033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4213" y="2420888"/>
            <a:ext cx="7772400" cy="1296988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Rocket </a:t>
            </a:r>
            <a:r>
              <a:rPr lang="en-US" altLang="zh-CN" dirty="0" err="1" smtClean="0"/>
              <a:t>iCluster</a:t>
            </a:r>
            <a:r>
              <a:rPr lang="en-US" altLang="zh-CN" dirty="0" smtClean="0"/>
              <a:t> HA solution for IBM System </a:t>
            </a:r>
            <a:r>
              <a:rPr lang="en-US" altLang="zh-CN" dirty="0" err="1" smtClean="0"/>
              <a:t>i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31667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346075"/>
          </a:xfrm>
        </p:spPr>
        <p:txBody>
          <a:bodyPr/>
          <a:lstStyle/>
          <a:p>
            <a:r>
              <a:rPr lang="zh-CN" altLang="en-US" dirty="0" smtClean="0"/>
              <a:t>基于</a:t>
            </a:r>
            <a:r>
              <a:rPr lang="en-US" altLang="zh-CN" dirty="0" smtClean="0"/>
              <a:t>IBM System 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的高可用技术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IBM </a:t>
            </a:r>
            <a:r>
              <a:rPr lang="en-US" altLang="zh-CN" dirty="0" err="1" smtClean="0"/>
              <a:t>PowerHA</a:t>
            </a:r>
            <a:r>
              <a:rPr lang="en-US" altLang="zh-CN" dirty="0" smtClean="0"/>
              <a:t> Solution [</a:t>
            </a:r>
            <a:r>
              <a:rPr lang="zh-CN" altLang="en-US" dirty="0" smtClean="0"/>
              <a:t>基于</a:t>
            </a:r>
            <a:r>
              <a:rPr lang="en-US" altLang="zh-CN" dirty="0" smtClean="0"/>
              <a:t>DS8K</a:t>
            </a:r>
            <a:r>
              <a:rPr lang="zh-CN" altLang="en-US" dirty="0" smtClean="0"/>
              <a:t>的存储复制技术</a:t>
            </a:r>
            <a:r>
              <a:rPr lang="en-US" altLang="zh-CN" dirty="0" smtClean="0"/>
              <a:t>]</a:t>
            </a:r>
          </a:p>
          <a:p>
            <a:pPr lvl="1"/>
            <a:r>
              <a:rPr lang="en-US" altLang="zh-CN" dirty="0" smtClean="0"/>
              <a:t>Metro-Mirror [</a:t>
            </a:r>
            <a:r>
              <a:rPr lang="zh-CN" altLang="en-US" dirty="0" smtClean="0"/>
              <a:t>同步镜像</a:t>
            </a:r>
            <a:r>
              <a:rPr lang="en-US" altLang="zh-CN" dirty="0" smtClean="0"/>
              <a:t>]</a:t>
            </a:r>
          </a:p>
          <a:p>
            <a:pPr lvl="1"/>
            <a:r>
              <a:rPr lang="en-US" altLang="zh-CN" dirty="0" smtClean="0"/>
              <a:t>Metro-Global-Mirror [</a:t>
            </a:r>
            <a:r>
              <a:rPr lang="zh-CN" altLang="en-US" dirty="0" smtClean="0"/>
              <a:t>同步</a:t>
            </a:r>
            <a:r>
              <a:rPr lang="en-US" altLang="zh-CN" dirty="0" smtClean="0"/>
              <a:t>-</a:t>
            </a:r>
            <a:r>
              <a:rPr lang="zh-CN" altLang="en-US" dirty="0" smtClean="0"/>
              <a:t>异步镜像</a:t>
            </a:r>
            <a:r>
              <a:rPr lang="en-US" altLang="zh-CN" dirty="0" smtClean="0"/>
              <a:t>]</a:t>
            </a:r>
          </a:p>
          <a:p>
            <a:r>
              <a:rPr lang="en-US" altLang="zh-CN" dirty="0" smtClean="0"/>
              <a:t>Software HA solution[</a:t>
            </a:r>
            <a:r>
              <a:rPr lang="zh-CN" altLang="en-US" dirty="0" smtClean="0"/>
              <a:t>基于日志的软件复制技术</a:t>
            </a:r>
            <a:r>
              <a:rPr lang="en-US" altLang="zh-CN" dirty="0" smtClean="0"/>
              <a:t>]</a:t>
            </a:r>
          </a:p>
          <a:p>
            <a:pPr lvl="1"/>
            <a:r>
              <a:rPr lang="en-US" altLang="zh-CN" dirty="0" smtClean="0"/>
              <a:t>Vision solution</a:t>
            </a:r>
          </a:p>
          <a:p>
            <a:pPr lvl="2"/>
            <a:r>
              <a:rPr lang="en-US" altLang="zh-CN" dirty="0" smtClean="0"/>
              <a:t>MIMIX 7.1</a:t>
            </a:r>
          </a:p>
          <a:p>
            <a:pPr lvl="2"/>
            <a:r>
              <a:rPr lang="en-US" altLang="zh-CN" dirty="0" smtClean="0"/>
              <a:t>OMS 9.1/ODS 5.1</a:t>
            </a:r>
          </a:p>
          <a:p>
            <a:pPr lvl="2"/>
            <a:r>
              <a:rPr lang="en-US" altLang="zh-CN" dirty="0" err="1" smtClean="0"/>
              <a:t>ITera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Rocket solution</a:t>
            </a:r>
          </a:p>
          <a:p>
            <a:pPr lvl="2"/>
            <a:r>
              <a:rPr lang="en-US" altLang="zh-CN" dirty="0" err="1" smtClean="0"/>
              <a:t>iCluster</a:t>
            </a:r>
            <a:r>
              <a:rPr lang="en-US" altLang="zh-CN" dirty="0" smtClean="0"/>
              <a:t> 7.1 TL1</a:t>
            </a:r>
          </a:p>
          <a:p>
            <a:pPr lvl="2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1126941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346075"/>
          </a:xfrm>
        </p:spPr>
        <p:txBody>
          <a:bodyPr/>
          <a:lstStyle/>
          <a:p>
            <a:r>
              <a:rPr lang="zh-CN" altLang="en-US" dirty="0" smtClean="0"/>
              <a:t>评估高可用方案的指标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RPO &amp; RTO[</a:t>
            </a:r>
            <a:r>
              <a:rPr lang="zh-CN" altLang="en-US" dirty="0" smtClean="0"/>
              <a:t>恢复点指标和恢复时间指标</a:t>
            </a:r>
            <a:r>
              <a:rPr lang="en-US" altLang="zh-CN" dirty="0" smtClean="0"/>
              <a:t>]</a:t>
            </a:r>
          </a:p>
          <a:p>
            <a:r>
              <a:rPr lang="en-US" altLang="zh-CN" dirty="0" smtClean="0"/>
              <a:t>Reliability </a:t>
            </a:r>
            <a:r>
              <a:rPr lang="zh-CN" altLang="en-US" dirty="0" smtClean="0"/>
              <a:t>可靠稳定</a:t>
            </a:r>
            <a:endParaRPr lang="en-US" altLang="zh-CN" dirty="0" smtClean="0"/>
          </a:p>
          <a:p>
            <a:r>
              <a:rPr lang="en-US" altLang="zh-CN" dirty="0" smtClean="0"/>
              <a:t>Small Workload </a:t>
            </a:r>
            <a:r>
              <a:rPr lang="zh-CN" altLang="en-US" dirty="0" smtClean="0"/>
              <a:t>轻负载</a:t>
            </a:r>
            <a:endParaRPr lang="en-US" altLang="zh-CN" dirty="0" smtClean="0"/>
          </a:p>
          <a:p>
            <a:r>
              <a:rPr lang="en-US" altLang="zh-CN" dirty="0" smtClean="0"/>
              <a:t>Good Performance </a:t>
            </a:r>
            <a:r>
              <a:rPr lang="zh-CN" altLang="en-US" dirty="0" smtClean="0"/>
              <a:t>高性能</a:t>
            </a:r>
            <a:endParaRPr lang="en-US" altLang="zh-CN" dirty="0" smtClean="0"/>
          </a:p>
          <a:p>
            <a:r>
              <a:rPr lang="en-US" altLang="zh-CN" dirty="0" smtClean="0"/>
              <a:t>Simple Operation &amp; Easy maintain </a:t>
            </a:r>
            <a:r>
              <a:rPr lang="zh-CN" altLang="en-US" dirty="0" smtClean="0"/>
              <a:t>操作简便</a:t>
            </a:r>
            <a:r>
              <a:rPr lang="en-US" altLang="zh-CN" dirty="0" smtClean="0"/>
              <a:t>/</a:t>
            </a:r>
            <a:r>
              <a:rPr lang="zh-CN" altLang="en-US" dirty="0" smtClean="0"/>
              <a:t>易维护</a:t>
            </a:r>
            <a:endParaRPr lang="en-US" altLang="zh-CN" dirty="0" smtClean="0"/>
          </a:p>
          <a:p>
            <a:r>
              <a:rPr lang="en-US" altLang="zh-CN" dirty="0" smtClean="0"/>
              <a:t>Strong support structure </a:t>
            </a:r>
            <a:r>
              <a:rPr lang="zh-CN" altLang="en-US" dirty="0" smtClean="0"/>
              <a:t>支持到位</a:t>
            </a:r>
            <a:endParaRPr lang="en-US" altLang="zh-CN" dirty="0" smtClean="0"/>
          </a:p>
          <a:p>
            <a:r>
              <a:rPr lang="en-US" altLang="zh-CN" dirty="0" smtClean="0"/>
              <a:t>Reliable product roadmap </a:t>
            </a:r>
            <a:r>
              <a:rPr lang="zh-CN" altLang="en-US" dirty="0" smtClean="0"/>
              <a:t>产品稳步升级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7600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346075"/>
          </a:xfrm>
        </p:spPr>
        <p:txBody>
          <a:bodyPr/>
          <a:lstStyle/>
          <a:p>
            <a:r>
              <a:rPr lang="zh-CN" altLang="en-US" dirty="0" smtClean="0"/>
              <a:t>高可用方案的着眼点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Disaster Recovery </a:t>
            </a:r>
            <a:r>
              <a:rPr lang="zh-CN" altLang="en-US" dirty="0" smtClean="0"/>
              <a:t>故障恢复</a:t>
            </a:r>
            <a:endParaRPr lang="en-US" altLang="zh-CN" dirty="0" smtClean="0"/>
          </a:p>
          <a:p>
            <a:r>
              <a:rPr lang="en-US" altLang="zh-CN" dirty="0" smtClean="0"/>
              <a:t>Load Balance </a:t>
            </a:r>
            <a:r>
              <a:rPr lang="zh-CN" altLang="en-US" dirty="0" smtClean="0"/>
              <a:t>负载均衡</a:t>
            </a:r>
            <a:endParaRPr lang="en-US" altLang="zh-CN" dirty="0" smtClean="0"/>
          </a:p>
          <a:p>
            <a:r>
              <a:rPr lang="en-US" altLang="zh-CN" dirty="0" smtClean="0"/>
              <a:t>Scalability </a:t>
            </a:r>
            <a:r>
              <a:rPr lang="zh-CN" altLang="en-US" dirty="0" smtClean="0"/>
              <a:t>可扩展</a:t>
            </a:r>
            <a:endParaRPr lang="en-US" altLang="zh-CN" dirty="0" smtClean="0"/>
          </a:p>
          <a:p>
            <a:r>
              <a:rPr lang="en-US" altLang="zh-CN" dirty="0" smtClean="0"/>
              <a:t>Management </a:t>
            </a:r>
            <a:r>
              <a:rPr lang="zh-CN" altLang="en-US" dirty="0" smtClean="0"/>
              <a:t>管理</a:t>
            </a:r>
            <a:endParaRPr lang="en-US" altLang="zh-CN" dirty="0" smtClean="0"/>
          </a:p>
          <a:p>
            <a:r>
              <a:rPr lang="en-US" altLang="zh-CN" dirty="0" smtClean="0"/>
              <a:t>Support/Maintain </a:t>
            </a:r>
            <a:r>
              <a:rPr lang="zh-CN" altLang="en-US" dirty="0" smtClean="0"/>
              <a:t>支持</a:t>
            </a:r>
            <a:r>
              <a:rPr lang="en-US" altLang="zh-CN" dirty="0" smtClean="0"/>
              <a:t>/</a:t>
            </a:r>
            <a:r>
              <a:rPr lang="zh-CN" altLang="en-US" dirty="0" smtClean="0"/>
              <a:t>维护</a:t>
            </a:r>
            <a:endParaRPr lang="en-US" altLang="zh-CN" dirty="0" smtClean="0"/>
          </a:p>
          <a:p>
            <a:r>
              <a:rPr lang="en-US" altLang="zh-CN" dirty="0" smtClean="0"/>
              <a:t>Price/efficiency </a:t>
            </a:r>
            <a:r>
              <a:rPr lang="zh-CN" altLang="en-US" dirty="0" smtClean="0"/>
              <a:t>性价比</a:t>
            </a:r>
            <a:endParaRPr lang="en-US" altLang="zh-CN" dirty="0" smtClean="0"/>
          </a:p>
          <a:p>
            <a:r>
              <a:rPr lang="en-US" altLang="zh-CN" dirty="0" smtClean="0"/>
              <a:t>Confirmed solution </a:t>
            </a:r>
            <a:r>
              <a:rPr lang="zh-CN" altLang="en-US" dirty="0" smtClean="0"/>
              <a:t>被验证的方案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185753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346075"/>
          </a:xfrm>
        </p:spPr>
        <p:txBody>
          <a:bodyPr/>
          <a:lstStyle/>
          <a:p>
            <a:r>
              <a:rPr lang="zh-CN" altLang="en-US" dirty="0" smtClean="0"/>
              <a:t>基于日志高可用方案的技术体现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Journal management </a:t>
            </a:r>
            <a:r>
              <a:rPr lang="zh-CN" altLang="en-US" dirty="0" smtClean="0"/>
              <a:t>日志管理</a:t>
            </a:r>
            <a:endParaRPr lang="en-US" altLang="zh-CN" dirty="0" smtClean="0"/>
          </a:p>
          <a:p>
            <a:r>
              <a:rPr lang="en-US" altLang="zh-CN" dirty="0" smtClean="0"/>
              <a:t>Journal entry apply strategy </a:t>
            </a:r>
            <a:r>
              <a:rPr lang="zh-CN" altLang="en-US" dirty="0" smtClean="0"/>
              <a:t>日志项复制方案</a:t>
            </a:r>
            <a:endParaRPr lang="en-US" altLang="zh-CN" dirty="0" smtClean="0"/>
          </a:p>
          <a:p>
            <a:r>
              <a:rPr lang="en-US" altLang="zh-CN" dirty="0" smtClean="0"/>
              <a:t>Transaction management </a:t>
            </a:r>
            <a:r>
              <a:rPr lang="zh-CN" altLang="en-US" dirty="0" smtClean="0"/>
              <a:t>事务的控制</a:t>
            </a:r>
            <a:endParaRPr lang="en-US" altLang="zh-CN" dirty="0" smtClean="0"/>
          </a:p>
          <a:p>
            <a:r>
              <a:rPr lang="en-US" altLang="zh-CN" dirty="0" smtClean="0"/>
              <a:t>Planned switch-over/un-planned switch-over </a:t>
            </a:r>
            <a:r>
              <a:rPr lang="zh-CN" altLang="en-US" dirty="0" smtClean="0"/>
              <a:t>计划切换</a:t>
            </a:r>
            <a:r>
              <a:rPr lang="en-US" altLang="zh-CN" dirty="0" smtClean="0"/>
              <a:t>/</a:t>
            </a:r>
            <a:r>
              <a:rPr lang="zh-CN" altLang="en-US" dirty="0" smtClean="0"/>
              <a:t>非计划切换</a:t>
            </a:r>
            <a:endParaRPr lang="en-US" altLang="zh-CN" dirty="0" smtClean="0"/>
          </a:p>
          <a:p>
            <a:r>
              <a:rPr lang="en-US" altLang="zh-CN" dirty="0" smtClean="0"/>
              <a:t>Sync check strategy </a:t>
            </a:r>
            <a:r>
              <a:rPr lang="zh-CN" altLang="en-US" dirty="0" smtClean="0"/>
              <a:t>同步检查</a:t>
            </a:r>
            <a:endParaRPr lang="en-US" altLang="zh-CN" dirty="0" smtClean="0"/>
          </a:p>
          <a:p>
            <a:r>
              <a:rPr lang="en-US" altLang="zh-CN" dirty="0" smtClean="0"/>
              <a:t>Sync/duplicate for un-sync objects </a:t>
            </a:r>
            <a:r>
              <a:rPr lang="zh-CN" altLang="en-US" dirty="0" smtClean="0"/>
              <a:t>对象同步技术</a:t>
            </a:r>
            <a:endParaRPr lang="en-US" altLang="zh-CN" dirty="0" smtClean="0"/>
          </a:p>
          <a:p>
            <a:r>
              <a:rPr lang="en-US" altLang="zh-CN" dirty="0" smtClean="0"/>
              <a:t>Backup consolidation </a:t>
            </a:r>
            <a:r>
              <a:rPr lang="zh-CN" altLang="en-US" dirty="0" smtClean="0"/>
              <a:t>整合备份方案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95373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346075"/>
          </a:xfrm>
        </p:spPr>
        <p:txBody>
          <a:bodyPr/>
          <a:lstStyle/>
          <a:p>
            <a:r>
              <a:rPr lang="en-US" altLang="zh-CN" dirty="0" smtClean="0"/>
              <a:t>Duplication Object Type </a:t>
            </a:r>
            <a:r>
              <a:rPr lang="zh-CN" altLang="en-US" dirty="0" smtClean="0"/>
              <a:t>复制对象类型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File 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>[Physical file, logical file]</a:t>
            </a:r>
          </a:p>
          <a:p>
            <a:r>
              <a:rPr lang="en-US" altLang="zh-CN" dirty="0" smtClean="0"/>
              <a:t>Data Queue </a:t>
            </a:r>
            <a:r>
              <a:rPr lang="zh-CN" altLang="en-US" dirty="0" smtClean="0"/>
              <a:t>数据队列</a:t>
            </a:r>
            <a:endParaRPr lang="en-US" altLang="zh-CN" dirty="0" smtClean="0"/>
          </a:p>
          <a:p>
            <a:r>
              <a:rPr lang="en-US" altLang="zh-CN" dirty="0" smtClean="0"/>
              <a:t>Data Area </a:t>
            </a:r>
            <a:r>
              <a:rPr lang="zh-CN" altLang="en-US" dirty="0" smtClean="0"/>
              <a:t>数据区</a:t>
            </a:r>
            <a:endParaRPr lang="en-US" altLang="zh-CN" dirty="0" smtClean="0"/>
          </a:p>
          <a:p>
            <a:r>
              <a:rPr lang="en-US" altLang="zh-CN" dirty="0" smtClean="0"/>
              <a:t>IFS </a:t>
            </a:r>
            <a:r>
              <a:rPr lang="zh-CN" altLang="en-US" dirty="0" smtClean="0"/>
              <a:t>集成文件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4034177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150" y="332656"/>
            <a:ext cx="8229600" cy="346075"/>
          </a:xfrm>
        </p:spPr>
        <p:txBody>
          <a:bodyPr/>
          <a:lstStyle/>
          <a:p>
            <a:r>
              <a:rPr lang="en-US" altLang="zh-CN" dirty="0" smtClean="0"/>
              <a:t>Journal Apply  </a:t>
            </a:r>
            <a:r>
              <a:rPr lang="zh-CN" altLang="en-US" dirty="0" smtClean="0"/>
              <a:t>处理的日志类型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Audit Journal </a:t>
            </a:r>
            <a:r>
              <a:rPr lang="zh-CN" altLang="en-US" dirty="0" smtClean="0"/>
              <a:t>系统审计日志</a:t>
            </a:r>
            <a:endParaRPr lang="en-US" altLang="zh-CN" dirty="0" smtClean="0"/>
          </a:p>
          <a:p>
            <a:r>
              <a:rPr lang="en-US" altLang="zh-CN" dirty="0" smtClean="0"/>
              <a:t>One or more user journal </a:t>
            </a:r>
            <a:r>
              <a:rPr lang="zh-CN" altLang="en-US" dirty="0" smtClean="0"/>
              <a:t>用户日志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2803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150" y="332656"/>
            <a:ext cx="8229600" cy="346075"/>
          </a:xfrm>
        </p:spPr>
        <p:txBody>
          <a:bodyPr/>
          <a:lstStyle/>
          <a:p>
            <a:r>
              <a:rPr lang="zh-CN" altLang="en-US" dirty="0" smtClean="0"/>
              <a:t>选择</a:t>
            </a:r>
            <a:r>
              <a:rPr lang="en-US" altLang="zh-CN" dirty="0" smtClean="0"/>
              <a:t>Rocket </a:t>
            </a:r>
            <a:r>
              <a:rPr lang="en-US" altLang="zh-CN" dirty="0" err="1" smtClean="0"/>
              <a:t>iCluster</a:t>
            </a:r>
            <a:r>
              <a:rPr lang="zh-CN" altLang="en-US" dirty="0" smtClean="0"/>
              <a:t>的理由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操作快捷简便，快速实现复杂配置</a:t>
            </a:r>
            <a:endParaRPr lang="en-US" altLang="zh-CN" dirty="0" smtClean="0"/>
          </a:p>
          <a:p>
            <a:r>
              <a:rPr lang="zh-CN" altLang="en-US" dirty="0" smtClean="0"/>
              <a:t>扩展性强，从轻量级到企业级，适合各种级别的客户需求</a:t>
            </a:r>
            <a:endParaRPr lang="en-US" altLang="zh-CN" dirty="0" smtClean="0"/>
          </a:p>
          <a:p>
            <a:r>
              <a:rPr lang="zh-CN" altLang="en-US" dirty="0" smtClean="0"/>
              <a:t>高效集成审计日志和用户数据库日志的处理</a:t>
            </a:r>
            <a:endParaRPr lang="en-US" altLang="zh-CN" dirty="0" smtClean="0"/>
          </a:p>
          <a:p>
            <a:r>
              <a:rPr lang="zh-CN" altLang="en-US" dirty="0" smtClean="0"/>
              <a:t>数据复制速度达到企业级要求</a:t>
            </a:r>
            <a:endParaRPr lang="en-US" altLang="zh-CN" dirty="0" smtClean="0"/>
          </a:p>
          <a:p>
            <a:r>
              <a:rPr lang="zh-CN" altLang="en-US" dirty="0" smtClean="0"/>
              <a:t>与</a:t>
            </a:r>
            <a:r>
              <a:rPr lang="en-US" altLang="zh-CN" dirty="0" smtClean="0"/>
              <a:t>IBM Rochester</a:t>
            </a:r>
            <a:r>
              <a:rPr lang="zh-CN" altLang="en-US" dirty="0" smtClean="0"/>
              <a:t>实验室保持</a:t>
            </a:r>
            <a:r>
              <a:rPr lang="en-US" altLang="zh-CN" dirty="0" smtClean="0"/>
              <a:t>20</a:t>
            </a:r>
            <a:r>
              <a:rPr lang="zh-CN" altLang="en-US" dirty="0" smtClean="0"/>
              <a:t>年的合作关系，技术达到世界领先</a:t>
            </a:r>
            <a:endParaRPr lang="en-US" altLang="zh-CN" dirty="0" smtClean="0"/>
          </a:p>
          <a:p>
            <a:r>
              <a:rPr lang="zh-CN" altLang="en-US" dirty="0" smtClean="0"/>
              <a:t>高性价比，提供企业级质量和服务支持</a:t>
            </a:r>
            <a:endParaRPr lang="en-US" altLang="zh-CN" dirty="0" smtClean="0"/>
          </a:p>
          <a:p>
            <a:r>
              <a:rPr lang="zh-CN" altLang="en-US" dirty="0" smtClean="0"/>
              <a:t>与</a:t>
            </a:r>
            <a:r>
              <a:rPr lang="en-US" altLang="zh-CN" dirty="0" smtClean="0"/>
              <a:t>IBM</a:t>
            </a:r>
            <a:r>
              <a:rPr lang="zh-CN" altLang="en-US" dirty="0" smtClean="0"/>
              <a:t>中国保持密切合作关系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5824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4848" y="346621"/>
            <a:ext cx="8229600" cy="346075"/>
          </a:xfrm>
        </p:spPr>
        <p:txBody>
          <a:bodyPr/>
          <a:lstStyle/>
          <a:p>
            <a:r>
              <a:rPr lang="zh-CN" altLang="en-US" dirty="0" smtClean="0"/>
              <a:t>基于本地日志的数据复制技术</a:t>
            </a:r>
            <a:endParaRPr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24755" y="980728"/>
            <a:ext cx="2492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66CC"/>
                </a:solidFill>
                <a:latin typeface="Helvetica" pitchFamily="34" charset="0"/>
                <a:ea typeface="宋体" charset="-122"/>
              </a:rPr>
              <a:t>Normal mode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24755" y="1503016"/>
            <a:ext cx="3598863" cy="4138612"/>
          </a:xfrm>
          <a:prstGeom prst="rect">
            <a:avLst/>
          </a:prstGeom>
          <a:solidFill>
            <a:srgbClr val="C0C0C0"/>
          </a:solidFill>
          <a:ln w="222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GB" altLang="zh-CN" sz="2400">
              <a:solidFill>
                <a:srgbClr val="FFFFCC"/>
              </a:solidFill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920555" y="1503016"/>
            <a:ext cx="3598863" cy="4138612"/>
          </a:xfrm>
          <a:prstGeom prst="rect">
            <a:avLst/>
          </a:prstGeom>
          <a:solidFill>
            <a:srgbClr val="C0C0C0"/>
          </a:solidFill>
          <a:ln w="222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GB" altLang="zh-CN" sz="2400">
              <a:solidFill>
                <a:srgbClr val="FFFFCC"/>
              </a:solidFill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113730" y="2417416"/>
            <a:ext cx="13589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174055" y="2457103"/>
            <a:ext cx="1009650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174055" y="2465041"/>
            <a:ext cx="1009650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407543" y="2403128"/>
            <a:ext cx="1295400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2466280" y="2442816"/>
            <a:ext cx="962025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2461518" y="2285653"/>
            <a:ext cx="10144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2456755" y="2188816"/>
            <a:ext cx="1012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2456755" y="2420591"/>
            <a:ext cx="573088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2507555" y="2442816"/>
            <a:ext cx="1841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GB" altLang="zh-CN" sz="1300" b="1"/>
              <a:t>    </a:t>
            </a:r>
            <a:endParaRPr lang="en-GB" altLang="zh-CN" sz="2400"/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auto">
          <a:xfrm rot="5400000">
            <a:off x="5860355" y="3142903"/>
            <a:ext cx="1143000" cy="3810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7484368" y="3190528"/>
            <a:ext cx="725487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GB" altLang="zh-CN" sz="1400" b="1"/>
              <a:t>Target</a:t>
            </a:r>
          </a:p>
          <a:p>
            <a:pPr algn="ctr" eaLnBrk="0" hangingPunct="0"/>
            <a:r>
              <a:rPr lang="en-GB" altLang="zh-CN" sz="1400" b="1"/>
              <a:t>apply</a:t>
            </a: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6546155" y="3444528"/>
            <a:ext cx="914400" cy="317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7197030" y="2522191"/>
            <a:ext cx="649288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en-GB" altLang="zh-CN" sz="1400" b="1"/>
              <a:t>Staging</a:t>
            </a:r>
          </a:p>
          <a:p>
            <a:pPr algn="ctr" eaLnBrk="0" hangingPunct="0"/>
            <a:r>
              <a:rPr lang="en-GB" altLang="zh-CN" sz="1400" b="1"/>
              <a:t>library</a:t>
            </a:r>
          </a:p>
        </p:txBody>
      </p:sp>
      <p:grpSp>
        <p:nvGrpSpPr>
          <p:cNvPr id="20" name="Group 18"/>
          <p:cNvGrpSpPr>
            <a:grpSpLocks/>
          </p:cNvGrpSpPr>
          <p:nvPr/>
        </p:nvGrpSpPr>
        <p:grpSpPr bwMode="auto">
          <a:xfrm>
            <a:off x="5196780" y="2318991"/>
            <a:ext cx="1900238" cy="762000"/>
            <a:chOff x="3246" y="1835"/>
            <a:chExt cx="1197" cy="480"/>
          </a:xfrm>
        </p:grpSpPr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3296" y="2267"/>
              <a:ext cx="1097" cy="4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2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4393" y="1835"/>
              <a:ext cx="50" cy="48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2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3346" y="2171"/>
              <a:ext cx="997" cy="48"/>
            </a:xfrm>
            <a:prstGeom prst="rect">
              <a:avLst/>
            </a:prstGeom>
            <a:solidFill>
              <a:srgbClr val="66CCFF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2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66CCFF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0" hangingPunct="0"/>
              <a:r>
                <a:rPr lang="en-GB" altLang="zh-CN" sz="800" b="1"/>
                <a:t>OBJ</a:t>
              </a:r>
              <a:endParaRPr lang="en-GB" altLang="zh-CN" sz="2400" b="1">
                <a:solidFill>
                  <a:srgbClr val="FFFF66"/>
                </a:solidFill>
              </a:endParaRP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3346" y="2075"/>
              <a:ext cx="997" cy="48"/>
            </a:xfrm>
            <a:prstGeom prst="rect">
              <a:avLst/>
            </a:prstGeom>
            <a:solidFill>
              <a:srgbClr val="FFCC00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2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0" hangingPunct="0"/>
              <a:r>
                <a:rPr lang="en-GB" altLang="zh-CN" sz="800" b="1"/>
                <a:t>PF</a:t>
              </a: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3346" y="1979"/>
              <a:ext cx="997" cy="48"/>
            </a:xfrm>
            <a:prstGeom prst="rect">
              <a:avLst/>
            </a:prstGeom>
            <a:solidFill>
              <a:srgbClr val="66CCFF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2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66CCFF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0" hangingPunct="0"/>
              <a:r>
                <a:rPr lang="en-GB" altLang="zh-CN" sz="800" b="1"/>
                <a:t>OBJ</a:t>
              </a:r>
              <a:endParaRPr lang="en-GB" altLang="zh-CN" sz="2400" b="1">
                <a:solidFill>
                  <a:srgbClr val="FFFF66"/>
                </a:solidFill>
              </a:endParaRP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3346" y="1883"/>
              <a:ext cx="997" cy="48"/>
            </a:xfrm>
            <a:prstGeom prst="rect">
              <a:avLst/>
            </a:prstGeom>
            <a:solidFill>
              <a:srgbClr val="FFCC00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2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0" hangingPunct="0"/>
              <a:r>
                <a:rPr lang="en-GB" altLang="zh-CN" sz="800" b="1"/>
                <a:t>PF</a:t>
              </a:r>
              <a:endParaRPr lang="en-GB" altLang="zh-CN" sz="800" b="1">
                <a:solidFill>
                  <a:srgbClr val="FFFF66"/>
                </a:solidFill>
              </a:endParaRP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3246" y="1835"/>
              <a:ext cx="50" cy="48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2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2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3246" y="1835"/>
              <a:ext cx="50" cy="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3246" y="2267"/>
              <a:ext cx="1197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4393" y="1835"/>
              <a:ext cx="50" cy="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" name="Line 29"/>
          <p:cNvSpPr>
            <a:spLocks noChangeShapeType="1"/>
          </p:cNvSpPr>
          <p:nvPr/>
        </p:nvSpPr>
        <p:spPr bwMode="auto">
          <a:xfrm flipH="1">
            <a:off x="6215955" y="1361728"/>
            <a:ext cx="457200" cy="76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7168455" y="1590328"/>
            <a:ext cx="1235075" cy="663575"/>
          </a:xfrm>
          <a:prstGeom prst="rect">
            <a:avLst/>
          </a:prstGeom>
          <a:solidFill>
            <a:srgbClr val="6699CC"/>
          </a:solidFill>
          <a:ln w="222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GB" altLang="zh-CN" b="1">
                <a:solidFill>
                  <a:schemeClr val="bg1"/>
                </a:solidFill>
              </a:rPr>
              <a:t>Recovery</a:t>
            </a:r>
            <a:br>
              <a:rPr lang="en-GB" altLang="zh-CN" b="1">
                <a:solidFill>
                  <a:schemeClr val="bg1"/>
                </a:solidFill>
              </a:rPr>
            </a:br>
            <a:r>
              <a:rPr lang="en-GB" altLang="zh-CN" b="1">
                <a:solidFill>
                  <a:schemeClr val="bg1"/>
                </a:solidFill>
              </a:rPr>
              <a:t>system</a:t>
            </a:r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548580" y="1590328"/>
            <a:ext cx="1412875" cy="663575"/>
          </a:xfrm>
          <a:prstGeom prst="rect">
            <a:avLst/>
          </a:prstGeom>
          <a:solidFill>
            <a:srgbClr val="6699CC"/>
          </a:solidFill>
          <a:ln w="222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GB" altLang="zh-CN" b="1">
                <a:solidFill>
                  <a:schemeClr val="bg1"/>
                </a:solidFill>
              </a:rPr>
              <a:t>Production</a:t>
            </a:r>
          </a:p>
          <a:p>
            <a:pPr algn="ctr" eaLnBrk="0" hangingPunct="0"/>
            <a:r>
              <a:rPr lang="en-GB" altLang="zh-CN" b="1">
                <a:solidFill>
                  <a:schemeClr val="bg1"/>
                </a:solidFill>
              </a:rPr>
              <a:t>system</a:t>
            </a:r>
            <a:endParaRPr lang="en-GB" altLang="zh-CN">
              <a:solidFill>
                <a:schemeClr val="bg1"/>
              </a:solidFill>
            </a:endParaRPr>
          </a:p>
        </p:txBody>
      </p:sp>
      <p:grpSp>
        <p:nvGrpSpPr>
          <p:cNvPr id="34" name="Group 32"/>
          <p:cNvGrpSpPr>
            <a:grpSpLocks/>
          </p:cNvGrpSpPr>
          <p:nvPr/>
        </p:nvGrpSpPr>
        <p:grpSpPr bwMode="auto">
          <a:xfrm>
            <a:off x="826393" y="2655541"/>
            <a:ext cx="1185862" cy="1528762"/>
            <a:chOff x="705" y="2047"/>
            <a:chExt cx="747" cy="963"/>
          </a:xfrm>
        </p:grpSpPr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705" y="2047"/>
              <a:ext cx="741" cy="961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>
              <a:off x="705" y="2177"/>
              <a:ext cx="73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705" y="2340"/>
              <a:ext cx="73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>
              <a:off x="705" y="2677"/>
              <a:ext cx="73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>
              <a:off x="711" y="2844"/>
              <a:ext cx="73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>
              <a:off x="928" y="2047"/>
              <a:ext cx="1" cy="9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39"/>
            <p:cNvSpPr>
              <a:spLocks noChangeArrowheads="1"/>
            </p:cNvSpPr>
            <p:nvPr/>
          </p:nvSpPr>
          <p:spPr bwMode="auto">
            <a:xfrm>
              <a:off x="735" y="2065"/>
              <a:ext cx="477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40"/>
            <p:cNvSpPr>
              <a:spLocks noChangeArrowheads="1"/>
            </p:cNvSpPr>
            <p:nvPr/>
          </p:nvSpPr>
          <p:spPr bwMode="auto">
            <a:xfrm>
              <a:off x="774" y="2089"/>
              <a:ext cx="447" cy="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Rectangle 41"/>
            <p:cNvSpPr>
              <a:spLocks noChangeArrowheads="1"/>
            </p:cNvSpPr>
            <p:nvPr/>
          </p:nvSpPr>
          <p:spPr bwMode="auto">
            <a:xfrm>
              <a:off x="774" y="2094"/>
              <a:ext cx="379" cy="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738" y="2071"/>
              <a:ext cx="421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GB" altLang="zh-CN" sz="800" b="1"/>
                <a:t>SEQ.     DATA</a:t>
              </a:r>
              <a:endParaRPr lang="en-GB" altLang="zh-CN" sz="2400" b="1"/>
            </a:p>
          </p:txBody>
        </p:sp>
        <p:sp>
          <p:nvSpPr>
            <p:cNvPr id="45" name="Line 43"/>
            <p:cNvSpPr>
              <a:spLocks noChangeShapeType="1"/>
            </p:cNvSpPr>
            <p:nvPr/>
          </p:nvSpPr>
          <p:spPr bwMode="auto">
            <a:xfrm>
              <a:off x="930" y="2818"/>
              <a:ext cx="1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4"/>
            <p:cNvSpPr>
              <a:spLocks noChangeShapeType="1"/>
            </p:cNvSpPr>
            <p:nvPr/>
          </p:nvSpPr>
          <p:spPr bwMode="auto">
            <a:xfrm>
              <a:off x="714" y="2496"/>
              <a:ext cx="73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" name="Group 45"/>
          <p:cNvGrpSpPr>
            <a:grpSpLocks/>
          </p:cNvGrpSpPr>
          <p:nvPr/>
        </p:nvGrpSpPr>
        <p:grpSpPr bwMode="auto">
          <a:xfrm>
            <a:off x="2456755" y="2655541"/>
            <a:ext cx="1176338" cy="1525587"/>
            <a:chOff x="1520" y="2047"/>
            <a:chExt cx="741" cy="961"/>
          </a:xfrm>
        </p:grpSpPr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1520" y="2047"/>
              <a:ext cx="741" cy="961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7"/>
            <p:cNvSpPr>
              <a:spLocks noChangeShapeType="1"/>
            </p:cNvSpPr>
            <p:nvPr/>
          </p:nvSpPr>
          <p:spPr bwMode="auto">
            <a:xfrm>
              <a:off x="1520" y="2176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48"/>
            <p:cNvSpPr>
              <a:spLocks noChangeShapeType="1"/>
            </p:cNvSpPr>
            <p:nvPr/>
          </p:nvSpPr>
          <p:spPr bwMode="auto">
            <a:xfrm>
              <a:off x="1520" y="2341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49"/>
            <p:cNvSpPr>
              <a:spLocks noChangeShapeType="1"/>
            </p:cNvSpPr>
            <p:nvPr/>
          </p:nvSpPr>
          <p:spPr bwMode="auto">
            <a:xfrm>
              <a:off x="1520" y="2844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50"/>
            <p:cNvSpPr>
              <a:spLocks noChangeShapeType="1"/>
            </p:cNvSpPr>
            <p:nvPr/>
          </p:nvSpPr>
          <p:spPr bwMode="auto">
            <a:xfrm>
              <a:off x="1732" y="2047"/>
              <a:ext cx="1" cy="9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Rectangle 51"/>
            <p:cNvSpPr>
              <a:spLocks noChangeArrowheads="1"/>
            </p:cNvSpPr>
            <p:nvPr/>
          </p:nvSpPr>
          <p:spPr bwMode="auto">
            <a:xfrm>
              <a:off x="1548" y="2065"/>
              <a:ext cx="454" cy="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Rectangle 52"/>
            <p:cNvSpPr>
              <a:spLocks noChangeArrowheads="1"/>
            </p:cNvSpPr>
            <p:nvPr/>
          </p:nvSpPr>
          <p:spPr bwMode="auto">
            <a:xfrm>
              <a:off x="1585" y="2089"/>
              <a:ext cx="426" cy="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auto">
            <a:xfrm>
              <a:off x="1585" y="2093"/>
              <a:ext cx="387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1585" y="2098"/>
              <a:ext cx="361" cy="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55"/>
            <p:cNvSpPr>
              <a:spLocks noChangeShapeType="1"/>
            </p:cNvSpPr>
            <p:nvPr/>
          </p:nvSpPr>
          <p:spPr bwMode="auto">
            <a:xfrm>
              <a:off x="1734" y="2810"/>
              <a:ext cx="1" cy="1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Rectangle 56"/>
            <p:cNvSpPr>
              <a:spLocks noChangeArrowheads="1"/>
            </p:cNvSpPr>
            <p:nvPr/>
          </p:nvSpPr>
          <p:spPr bwMode="auto">
            <a:xfrm>
              <a:off x="1540" y="2068"/>
              <a:ext cx="421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GB" altLang="zh-CN" sz="800" b="1"/>
                <a:t>SEQ.     DATA</a:t>
              </a:r>
              <a:endParaRPr lang="en-GB" altLang="zh-CN" sz="2400" b="1"/>
            </a:p>
          </p:txBody>
        </p:sp>
        <p:sp>
          <p:nvSpPr>
            <p:cNvPr id="59" name="Line 57"/>
            <p:cNvSpPr>
              <a:spLocks noChangeShapeType="1"/>
            </p:cNvSpPr>
            <p:nvPr/>
          </p:nvSpPr>
          <p:spPr bwMode="auto">
            <a:xfrm>
              <a:off x="1524" y="2496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58"/>
            <p:cNvSpPr>
              <a:spLocks noChangeShapeType="1"/>
            </p:cNvSpPr>
            <p:nvPr/>
          </p:nvSpPr>
          <p:spPr bwMode="auto">
            <a:xfrm>
              <a:off x="1524" y="2676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1" name="Group 59"/>
          <p:cNvGrpSpPr>
            <a:grpSpLocks/>
          </p:cNvGrpSpPr>
          <p:nvPr/>
        </p:nvGrpSpPr>
        <p:grpSpPr bwMode="auto">
          <a:xfrm>
            <a:off x="2583755" y="4036666"/>
            <a:ext cx="1282700" cy="1320800"/>
            <a:chOff x="1600" y="2877"/>
            <a:chExt cx="808" cy="832"/>
          </a:xfrm>
        </p:grpSpPr>
        <p:sp>
          <p:nvSpPr>
            <p:cNvPr id="62" name="Rectangle 60"/>
            <p:cNvSpPr>
              <a:spLocks noChangeArrowheads="1"/>
            </p:cNvSpPr>
            <p:nvPr/>
          </p:nvSpPr>
          <p:spPr bwMode="auto">
            <a:xfrm>
              <a:off x="1600" y="2877"/>
              <a:ext cx="457" cy="468"/>
            </a:xfrm>
            <a:prstGeom prst="rect">
              <a:avLst/>
            </a:prstGeom>
            <a:solidFill>
              <a:srgbClr val="FFCC00"/>
            </a:solidFill>
            <a:ln w="6350">
              <a:miter lim="800000"/>
              <a:headEnd/>
              <a:tailEnd/>
            </a:ln>
            <a:effectLst/>
            <a:scene3d>
              <a:camera prst="legacyObliqueTopLeft"/>
              <a:lightRig rig="legacyFlat4" dir="b"/>
            </a:scene3d>
            <a:sp3d extrusionH="2016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63" name="Rectangle 61"/>
            <p:cNvSpPr>
              <a:spLocks noChangeArrowheads="1"/>
            </p:cNvSpPr>
            <p:nvPr/>
          </p:nvSpPr>
          <p:spPr bwMode="auto">
            <a:xfrm>
              <a:off x="1784" y="3055"/>
              <a:ext cx="457" cy="468"/>
            </a:xfrm>
            <a:prstGeom prst="rect">
              <a:avLst/>
            </a:prstGeom>
            <a:solidFill>
              <a:srgbClr val="FFCC00"/>
            </a:solidFill>
            <a:ln w="6350">
              <a:miter lim="800000"/>
              <a:headEnd/>
              <a:tailEnd/>
            </a:ln>
            <a:effectLst/>
            <a:scene3d>
              <a:camera prst="legacyObliqueTopLeft"/>
              <a:lightRig rig="legacyFlat4" dir="b"/>
            </a:scene3d>
            <a:sp3d extrusionH="2016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64" name="Rectangle 62"/>
            <p:cNvSpPr>
              <a:spLocks noChangeArrowheads="1"/>
            </p:cNvSpPr>
            <p:nvPr/>
          </p:nvSpPr>
          <p:spPr bwMode="auto">
            <a:xfrm>
              <a:off x="1951" y="3241"/>
              <a:ext cx="457" cy="468"/>
            </a:xfrm>
            <a:prstGeom prst="rect">
              <a:avLst/>
            </a:prstGeom>
            <a:solidFill>
              <a:srgbClr val="FFCC00"/>
            </a:solidFill>
            <a:ln w="6350">
              <a:miter lim="800000"/>
              <a:headEnd/>
              <a:tailEnd/>
            </a:ln>
            <a:effectLst/>
            <a:scene3d>
              <a:camera prst="legacyObliqueTopLeft"/>
              <a:lightRig rig="legacyFlat4" dir="b"/>
            </a:scene3d>
            <a:sp3d extrusionH="2016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65" name="Rectangle 63"/>
            <p:cNvSpPr>
              <a:spLocks noChangeArrowheads="1"/>
            </p:cNvSpPr>
            <p:nvPr/>
          </p:nvSpPr>
          <p:spPr bwMode="auto">
            <a:xfrm>
              <a:off x="2047" y="3393"/>
              <a:ext cx="26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GB" altLang="zh-CN" sz="1600" b="1"/>
                <a:t>OBJ</a:t>
              </a:r>
            </a:p>
          </p:txBody>
        </p:sp>
      </p:grpSp>
      <p:sp>
        <p:nvSpPr>
          <p:cNvPr id="66" name="Rectangle 64"/>
          <p:cNvSpPr>
            <a:spLocks noChangeArrowheads="1"/>
          </p:cNvSpPr>
          <p:nvPr/>
        </p:nvSpPr>
        <p:spPr bwMode="auto">
          <a:xfrm>
            <a:off x="881955" y="2439641"/>
            <a:ext cx="1023938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GB" altLang="zh-CN" sz="1400" b="1"/>
              <a:t>Data journal</a:t>
            </a:r>
            <a:endParaRPr lang="en-GB" altLang="zh-CN" sz="1400"/>
          </a:p>
        </p:txBody>
      </p:sp>
      <p:sp>
        <p:nvSpPr>
          <p:cNvPr id="68" name="Text Box 66"/>
          <p:cNvSpPr txBox="1">
            <a:spLocks noChangeArrowheads="1"/>
          </p:cNvSpPr>
          <p:nvPr/>
        </p:nvSpPr>
        <p:spPr bwMode="auto">
          <a:xfrm>
            <a:off x="6063555" y="980728"/>
            <a:ext cx="2743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0" hangingPunct="0"/>
            <a:r>
              <a:rPr lang="en-GB" altLang="zh-CN" sz="2000" b="1">
                <a:solidFill>
                  <a:srgbClr val="0066CC"/>
                </a:solidFill>
                <a:latin typeface="Helvetica" pitchFamily="34" charset="0"/>
              </a:rPr>
              <a:t>Target receive jobs</a:t>
            </a:r>
          </a:p>
        </p:txBody>
      </p:sp>
      <p:grpSp>
        <p:nvGrpSpPr>
          <p:cNvPr id="69" name="Group 67"/>
          <p:cNvGrpSpPr>
            <a:grpSpLocks/>
          </p:cNvGrpSpPr>
          <p:nvPr/>
        </p:nvGrpSpPr>
        <p:grpSpPr bwMode="auto">
          <a:xfrm>
            <a:off x="2239268" y="1134716"/>
            <a:ext cx="3816350" cy="1030287"/>
            <a:chOff x="1383" y="865"/>
            <a:chExt cx="2404" cy="649"/>
          </a:xfrm>
        </p:grpSpPr>
        <p:grpSp>
          <p:nvGrpSpPr>
            <p:cNvPr id="70" name="Group 68"/>
            <p:cNvGrpSpPr>
              <a:grpSpLocks/>
            </p:cNvGrpSpPr>
            <p:nvPr/>
          </p:nvGrpSpPr>
          <p:grpSpPr bwMode="auto">
            <a:xfrm>
              <a:off x="1383" y="865"/>
              <a:ext cx="2284" cy="649"/>
              <a:chOff x="1864" y="1191"/>
              <a:chExt cx="1914" cy="624"/>
            </a:xfrm>
          </p:grpSpPr>
          <p:sp>
            <p:nvSpPr>
              <p:cNvPr id="79" name="Line 69"/>
              <p:cNvSpPr>
                <a:spLocks noChangeShapeType="1"/>
              </p:cNvSpPr>
              <p:nvPr/>
            </p:nvSpPr>
            <p:spPr bwMode="auto">
              <a:xfrm flipV="1">
                <a:off x="1875" y="1191"/>
                <a:ext cx="0" cy="624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0" name="Line 70"/>
              <p:cNvSpPr>
                <a:spLocks noChangeShapeType="1"/>
              </p:cNvSpPr>
              <p:nvPr/>
            </p:nvSpPr>
            <p:spPr bwMode="auto">
              <a:xfrm>
                <a:off x="1864" y="1192"/>
                <a:ext cx="1914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1" name="Line 71"/>
              <p:cNvSpPr>
                <a:spLocks noChangeShapeType="1"/>
              </p:cNvSpPr>
              <p:nvPr/>
            </p:nvSpPr>
            <p:spPr bwMode="auto">
              <a:xfrm>
                <a:off x="3770" y="1194"/>
                <a:ext cx="0" cy="576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1" name="Group 72"/>
            <p:cNvGrpSpPr>
              <a:grpSpLocks/>
            </p:cNvGrpSpPr>
            <p:nvPr/>
          </p:nvGrpSpPr>
          <p:grpSpPr bwMode="auto">
            <a:xfrm>
              <a:off x="1436" y="949"/>
              <a:ext cx="2295" cy="562"/>
              <a:chOff x="1917" y="1272"/>
              <a:chExt cx="1923" cy="540"/>
            </a:xfrm>
          </p:grpSpPr>
          <p:sp>
            <p:nvSpPr>
              <p:cNvPr id="76" name="Line 73"/>
              <p:cNvSpPr>
                <a:spLocks noChangeShapeType="1"/>
              </p:cNvSpPr>
              <p:nvPr/>
            </p:nvSpPr>
            <p:spPr bwMode="auto">
              <a:xfrm flipV="1">
                <a:off x="1928" y="1272"/>
                <a:ext cx="0" cy="54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" name="Line 74"/>
              <p:cNvSpPr>
                <a:spLocks noChangeShapeType="1"/>
              </p:cNvSpPr>
              <p:nvPr/>
            </p:nvSpPr>
            <p:spPr bwMode="auto">
              <a:xfrm>
                <a:off x="1917" y="1273"/>
                <a:ext cx="1923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8" name="Line 75"/>
              <p:cNvSpPr>
                <a:spLocks noChangeShapeType="1"/>
              </p:cNvSpPr>
              <p:nvPr/>
            </p:nvSpPr>
            <p:spPr bwMode="auto">
              <a:xfrm>
                <a:off x="3828" y="1272"/>
                <a:ext cx="0" cy="49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2" name="Group 76"/>
            <p:cNvGrpSpPr>
              <a:grpSpLocks/>
            </p:cNvGrpSpPr>
            <p:nvPr/>
          </p:nvGrpSpPr>
          <p:grpSpPr bwMode="auto">
            <a:xfrm>
              <a:off x="1487" y="1026"/>
              <a:ext cx="2300" cy="488"/>
              <a:chOff x="1968" y="1346"/>
              <a:chExt cx="1927" cy="469"/>
            </a:xfrm>
          </p:grpSpPr>
          <p:sp>
            <p:nvSpPr>
              <p:cNvPr id="73" name="Line 77"/>
              <p:cNvSpPr>
                <a:spLocks noChangeShapeType="1"/>
              </p:cNvSpPr>
              <p:nvPr/>
            </p:nvSpPr>
            <p:spPr bwMode="auto">
              <a:xfrm flipV="1">
                <a:off x="1979" y="1360"/>
                <a:ext cx="0" cy="45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4" name="Line 78"/>
              <p:cNvSpPr>
                <a:spLocks noChangeShapeType="1"/>
              </p:cNvSpPr>
              <p:nvPr/>
            </p:nvSpPr>
            <p:spPr bwMode="auto">
              <a:xfrm>
                <a:off x="1968" y="1353"/>
                <a:ext cx="1927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5" name="Line 79"/>
              <p:cNvSpPr>
                <a:spLocks noChangeShapeType="1"/>
              </p:cNvSpPr>
              <p:nvPr/>
            </p:nvSpPr>
            <p:spPr bwMode="auto">
              <a:xfrm>
                <a:off x="3886" y="1346"/>
                <a:ext cx="0" cy="424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82" name="Group 80"/>
          <p:cNvGrpSpPr>
            <a:grpSpLocks/>
          </p:cNvGrpSpPr>
          <p:nvPr/>
        </p:nvGrpSpPr>
        <p:grpSpPr bwMode="auto">
          <a:xfrm>
            <a:off x="896243" y="3916016"/>
            <a:ext cx="1079500" cy="1079500"/>
            <a:chOff x="537" y="2841"/>
            <a:chExt cx="680" cy="680"/>
          </a:xfrm>
        </p:grpSpPr>
        <p:pic>
          <p:nvPicPr>
            <p:cNvPr id="83" name="Picture 81" descr="db_6699CC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" y="2841"/>
              <a:ext cx="680" cy="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4" name="Rectangle 82"/>
            <p:cNvSpPr>
              <a:spLocks noChangeArrowheads="1"/>
            </p:cNvSpPr>
            <p:nvPr/>
          </p:nvSpPr>
          <p:spPr bwMode="auto">
            <a:xfrm>
              <a:off x="720" y="3133"/>
              <a:ext cx="29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ea typeface="宋体" charset="-122"/>
                </a:rPr>
                <a:t>PF</a:t>
              </a:r>
            </a:p>
          </p:txBody>
        </p:sp>
      </p:grpSp>
      <p:grpSp>
        <p:nvGrpSpPr>
          <p:cNvPr id="85" name="Group 83"/>
          <p:cNvGrpSpPr>
            <a:grpSpLocks/>
          </p:cNvGrpSpPr>
          <p:nvPr/>
        </p:nvGrpSpPr>
        <p:grpSpPr bwMode="auto">
          <a:xfrm>
            <a:off x="5280918" y="3916016"/>
            <a:ext cx="1079500" cy="1079500"/>
            <a:chOff x="537" y="2841"/>
            <a:chExt cx="680" cy="680"/>
          </a:xfrm>
        </p:grpSpPr>
        <p:pic>
          <p:nvPicPr>
            <p:cNvPr id="86" name="Picture 84" descr="db_6699CC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" y="2841"/>
              <a:ext cx="680" cy="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7" name="Rectangle 85"/>
            <p:cNvSpPr>
              <a:spLocks noChangeArrowheads="1"/>
            </p:cNvSpPr>
            <p:nvPr/>
          </p:nvSpPr>
          <p:spPr bwMode="auto">
            <a:xfrm>
              <a:off x="720" y="3133"/>
              <a:ext cx="29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>
                  <a:ea typeface="宋体" charset="-122"/>
                </a:rPr>
                <a:t>PF</a:t>
              </a:r>
            </a:p>
          </p:txBody>
        </p:sp>
      </p:grpSp>
      <p:sp>
        <p:nvSpPr>
          <p:cNvPr id="88" name="Text Box 86"/>
          <p:cNvSpPr txBox="1">
            <a:spLocks noChangeArrowheads="1"/>
          </p:cNvSpPr>
          <p:nvPr/>
        </p:nvSpPr>
        <p:spPr bwMode="auto">
          <a:xfrm rot="5400000">
            <a:off x="7791549" y="2343597"/>
            <a:ext cx="183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zh-CN" b="1">
                <a:solidFill>
                  <a:srgbClr val="0066CC"/>
                </a:solidFill>
              </a:rPr>
              <a:t>Secondary role</a:t>
            </a:r>
          </a:p>
        </p:txBody>
      </p:sp>
      <p:sp>
        <p:nvSpPr>
          <p:cNvPr id="89" name="Text Box 87"/>
          <p:cNvSpPr txBox="1">
            <a:spLocks noChangeArrowheads="1"/>
          </p:cNvSpPr>
          <p:nvPr/>
        </p:nvSpPr>
        <p:spPr bwMode="auto">
          <a:xfrm rot="5400000">
            <a:off x="3430687" y="2181671"/>
            <a:ext cx="151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zh-CN" b="1">
                <a:solidFill>
                  <a:srgbClr val="0066CC"/>
                </a:solidFill>
              </a:rPr>
              <a:t>Primary role</a:t>
            </a:r>
          </a:p>
        </p:txBody>
      </p:sp>
      <p:sp>
        <p:nvSpPr>
          <p:cNvPr id="90" name="Rectangle 88"/>
          <p:cNvSpPr>
            <a:spLocks noChangeArrowheads="1"/>
          </p:cNvSpPr>
          <p:nvPr/>
        </p:nvSpPr>
        <p:spPr bwMode="auto">
          <a:xfrm>
            <a:off x="2496443" y="2226916"/>
            <a:ext cx="1103312" cy="4254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en-GB" altLang="zh-CN" sz="1400" b="1"/>
              <a:t>System audit</a:t>
            </a:r>
          </a:p>
          <a:p>
            <a:pPr algn="ctr" eaLnBrk="0" hangingPunct="0"/>
            <a:r>
              <a:rPr lang="en-GB" altLang="zh-CN" sz="1400" b="1"/>
              <a:t>journal</a:t>
            </a:r>
            <a:endParaRPr lang="en-GB" altLang="zh-CN" sz="1400"/>
          </a:p>
        </p:txBody>
      </p:sp>
      <p:grpSp>
        <p:nvGrpSpPr>
          <p:cNvPr id="91" name="Group 89"/>
          <p:cNvGrpSpPr>
            <a:grpSpLocks/>
          </p:cNvGrpSpPr>
          <p:nvPr/>
        </p:nvGrpSpPr>
        <p:grpSpPr bwMode="auto">
          <a:xfrm>
            <a:off x="6736655" y="4016028"/>
            <a:ext cx="1282700" cy="1320800"/>
            <a:chOff x="1600" y="2877"/>
            <a:chExt cx="808" cy="832"/>
          </a:xfrm>
        </p:grpSpPr>
        <p:sp>
          <p:nvSpPr>
            <p:cNvPr id="92" name="Rectangle 90"/>
            <p:cNvSpPr>
              <a:spLocks noChangeArrowheads="1"/>
            </p:cNvSpPr>
            <p:nvPr/>
          </p:nvSpPr>
          <p:spPr bwMode="auto">
            <a:xfrm>
              <a:off x="1600" y="2877"/>
              <a:ext cx="457" cy="468"/>
            </a:xfrm>
            <a:prstGeom prst="rect">
              <a:avLst/>
            </a:prstGeom>
            <a:solidFill>
              <a:srgbClr val="FFCC00"/>
            </a:solidFill>
            <a:ln w="6350">
              <a:miter lim="800000"/>
              <a:headEnd/>
              <a:tailEnd/>
            </a:ln>
            <a:effectLst/>
            <a:scene3d>
              <a:camera prst="legacyObliqueTopLeft"/>
              <a:lightRig rig="legacyFlat4" dir="b"/>
            </a:scene3d>
            <a:sp3d extrusionH="2016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93" name="Rectangle 91"/>
            <p:cNvSpPr>
              <a:spLocks noChangeArrowheads="1"/>
            </p:cNvSpPr>
            <p:nvPr/>
          </p:nvSpPr>
          <p:spPr bwMode="auto">
            <a:xfrm>
              <a:off x="1784" y="3055"/>
              <a:ext cx="457" cy="468"/>
            </a:xfrm>
            <a:prstGeom prst="rect">
              <a:avLst/>
            </a:prstGeom>
            <a:solidFill>
              <a:srgbClr val="FFCC00"/>
            </a:solidFill>
            <a:ln w="6350">
              <a:miter lim="800000"/>
              <a:headEnd/>
              <a:tailEnd/>
            </a:ln>
            <a:effectLst/>
            <a:scene3d>
              <a:camera prst="legacyObliqueTopLeft"/>
              <a:lightRig rig="legacyFlat4" dir="b"/>
            </a:scene3d>
            <a:sp3d extrusionH="2016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94" name="Rectangle 92"/>
            <p:cNvSpPr>
              <a:spLocks noChangeArrowheads="1"/>
            </p:cNvSpPr>
            <p:nvPr/>
          </p:nvSpPr>
          <p:spPr bwMode="auto">
            <a:xfrm>
              <a:off x="1951" y="3241"/>
              <a:ext cx="457" cy="468"/>
            </a:xfrm>
            <a:prstGeom prst="rect">
              <a:avLst/>
            </a:prstGeom>
            <a:solidFill>
              <a:srgbClr val="FFCC00"/>
            </a:solidFill>
            <a:ln w="6350">
              <a:miter lim="800000"/>
              <a:headEnd/>
              <a:tailEnd/>
            </a:ln>
            <a:effectLst/>
            <a:scene3d>
              <a:camera prst="legacyObliqueTopLeft"/>
              <a:lightRig rig="legacyFlat4" dir="b"/>
            </a:scene3d>
            <a:sp3d extrusionH="2016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95" name="Rectangle 93"/>
            <p:cNvSpPr>
              <a:spLocks noChangeArrowheads="1"/>
            </p:cNvSpPr>
            <p:nvPr/>
          </p:nvSpPr>
          <p:spPr bwMode="auto">
            <a:xfrm>
              <a:off x="2047" y="3393"/>
              <a:ext cx="26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GB" altLang="zh-CN" sz="1600" b="1"/>
                <a:t>OBJ</a:t>
              </a:r>
            </a:p>
          </p:txBody>
        </p:sp>
      </p:grpSp>
      <p:sp>
        <p:nvSpPr>
          <p:cNvPr id="96" name="Line 94"/>
          <p:cNvSpPr>
            <a:spLocks noChangeShapeType="1"/>
          </p:cNvSpPr>
          <p:nvPr/>
        </p:nvSpPr>
        <p:spPr bwMode="auto">
          <a:xfrm flipV="1">
            <a:off x="2023368" y="2253903"/>
            <a:ext cx="215900" cy="288925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97" name="Line 95"/>
          <p:cNvSpPr>
            <a:spLocks noChangeShapeType="1"/>
          </p:cNvSpPr>
          <p:nvPr/>
        </p:nvSpPr>
        <p:spPr bwMode="auto">
          <a:xfrm flipH="1" flipV="1">
            <a:off x="2383730" y="2253903"/>
            <a:ext cx="144463" cy="288925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698350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7514" y="332656"/>
            <a:ext cx="8229600" cy="346075"/>
          </a:xfrm>
        </p:spPr>
        <p:txBody>
          <a:bodyPr/>
          <a:lstStyle/>
          <a:p>
            <a:r>
              <a:rPr lang="zh-CN" altLang="en-US" dirty="0" smtClean="0"/>
              <a:t>基于远程日志的数据复制技术</a:t>
            </a:r>
            <a:endParaRPr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9388" y="836712"/>
            <a:ext cx="2492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66CC"/>
                </a:solidFill>
                <a:latin typeface="Helvetica" pitchFamily="34" charset="0"/>
                <a:ea typeface="宋体" charset="-122"/>
              </a:rPr>
              <a:t>Normal mode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79388" y="1359000"/>
            <a:ext cx="3598862" cy="4138612"/>
          </a:xfrm>
          <a:prstGeom prst="rect">
            <a:avLst/>
          </a:prstGeom>
          <a:solidFill>
            <a:srgbClr val="C0C0C0"/>
          </a:solidFill>
          <a:ln w="222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GB" altLang="zh-CN" sz="2400">
              <a:solidFill>
                <a:srgbClr val="FFFFCC"/>
              </a:solidFill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657725" y="1317725"/>
            <a:ext cx="3598863" cy="4138612"/>
          </a:xfrm>
          <a:prstGeom prst="rect">
            <a:avLst/>
          </a:prstGeom>
          <a:solidFill>
            <a:srgbClr val="C0C0C0"/>
          </a:solidFill>
          <a:ln w="222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GB" altLang="zh-CN" sz="2400">
              <a:solidFill>
                <a:srgbClr val="FFFFCC"/>
              </a:solidFill>
            </a:endParaRPr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712788" y="2690912"/>
            <a:ext cx="1176337" cy="1525588"/>
            <a:chOff x="1520" y="2047"/>
            <a:chExt cx="741" cy="961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520" y="2047"/>
              <a:ext cx="741" cy="961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1520" y="2176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1520" y="2341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1520" y="2844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1732" y="2047"/>
              <a:ext cx="1" cy="9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1548" y="2065"/>
              <a:ext cx="454" cy="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1585" y="2089"/>
              <a:ext cx="426" cy="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1585" y="2093"/>
              <a:ext cx="387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1585" y="2098"/>
              <a:ext cx="361" cy="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1734" y="2810"/>
              <a:ext cx="1" cy="1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1540" y="2068"/>
              <a:ext cx="421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GB" altLang="zh-CN" sz="800" b="1"/>
                <a:t>SEQ.     DATA</a:t>
              </a:r>
              <a:endParaRPr lang="en-GB" altLang="zh-CN" sz="2400" b="1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1524" y="2496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1524" y="2676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19"/>
          <p:cNvGrpSpPr>
            <a:grpSpLocks/>
          </p:cNvGrpSpPr>
          <p:nvPr/>
        </p:nvGrpSpPr>
        <p:grpSpPr bwMode="auto">
          <a:xfrm>
            <a:off x="560388" y="4062512"/>
            <a:ext cx="1282700" cy="1320800"/>
            <a:chOff x="1600" y="2877"/>
            <a:chExt cx="808" cy="832"/>
          </a:xfrm>
        </p:grpSpPr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1600" y="2877"/>
              <a:ext cx="457" cy="468"/>
            </a:xfrm>
            <a:prstGeom prst="rect">
              <a:avLst/>
            </a:prstGeom>
            <a:solidFill>
              <a:srgbClr val="FFCC00"/>
            </a:solidFill>
            <a:ln w="6350">
              <a:miter lim="800000"/>
              <a:headEnd/>
              <a:tailEnd/>
            </a:ln>
            <a:effectLst/>
            <a:scene3d>
              <a:camera prst="legacyObliqueTopLeft"/>
              <a:lightRig rig="legacyFlat4" dir="b"/>
            </a:scene3d>
            <a:sp3d extrusionH="2016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1784" y="3055"/>
              <a:ext cx="457" cy="468"/>
            </a:xfrm>
            <a:prstGeom prst="rect">
              <a:avLst/>
            </a:prstGeom>
            <a:solidFill>
              <a:srgbClr val="FFCC00"/>
            </a:solidFill>
            <a:ln w="6350">
              <a:miter lim="800000"/>
              <a:headEnd/>
              <a:tailEnd/>
            </a:ln>
            <a:effectLst/>
            <a:scene3d>
              <a:camera prst="legacyObliqueTopLeft"/>
              <a:lightRig rig="legacyFlat4" dir="b"/>
            </a:scene3d>
            <a:sp3d extrusionH="2016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1951" y="3241"/>
              <a:ext cx="457" cy="468"/>
            </a:xfrm>
            <a:prstGeom prst="rect">
              <a:avLst/>
            </a:prstGeom>
            <a:solidFill>
              <a:srgbClr val="FFCC00"/>
            </a:solidFill>
            <a:ln w="6350">
              <a:miter lim="800000"/>
              <a:headEnd/>
              <a:tailEnd/>
            </a:ln>
            <a:effectLst/>
            <a:scene3d>
              <a:camera prst="legacyObliqueTopLeft"/>
              <a:lightRig rig="legacyFlat4" dir="b"/>
            </a:scene3d>
            <a:sp3d extrusionH="2016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2047" y="3393"/>
              <a:ext cx="26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GB" altLang="zh-CN" sz="1600" b="1"/>
                <a:t>OBJ</a:t>
              </a:r>
            </a:p>
          </p:txBody>
        </p:sp>
      </p:grp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1046163" y="2233712"/>
            <a:ext cx="59055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en-GB" altLang="zh-CN" sz="1400" b="1"/>
              <a:t>Local </a:t>
            </a:r>
          </a:p>
          <a:p>
            <a:pPr algn="ctr" eaLnBrk="0" hangingPunct="0"/>
            <a:r>
              <a:rPr lang="en-GB" altLang="zh-CN" sz="1400" b="1"/>
              <a:t>journal</a:t>
            </a:r>
            <a:endParaRPr lang="en-GB" altLang="zh-CN" sz="1400"/>
          </a:p>
        </p:txBody>
      </p:sp>
      <p:sp>
        <p:nvSpPr>
          <p:cNvPr id="27" name="Rectangle 25"/>
          <p:cNvSpPr>
            <a:spLocks noChangeArrowheads="1"/>
          </p:cNvSpPr>
          <p:nvPr/>
        </p:nvSpPr>
        <p:spPr bwMode="auto">
          <a:xfrm>
            <a:off x="4811713" y="1436787"/>
            <a:ext cx="13081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en-GB" altLang="zh-CN" sz="1400" b="1"/>
              <a:t>Remote </a:t>
            </a:r>
          </a:p>
          <a:p>
            <a:pPr algn="ctr" eaLnBrk="0" hangingPunct="0"/>
            <a:r>
              <a:rPr lang="en-GB" altLang="zh-CN" sz="1400" b="1"/>
              <a:t>Journal (active)</a:t>
            </a:r>
            <a:endParaRPr lang="en-GB" altLang="zh-CN" sz="1400"/>
          </a:p>
        </p:txBody>
      </p:sp>
      <p:cxnSp>
        <p:nvCxnSpPr>
          <p:cNvPr id="28" name="AutoShape 26"/>
          <p:cNvCxnSpPr>
            <a:cxnSpLocks noChangeShapeType="1"/>
            <a:stCxn id="8" idx="3"/>
            <a:endCxn id="38" idx="1"/>
          </p:cNvCxnSpPr>
          <p:nvPr/>
        </p:nvCxnSpPr>
        <p:spPr bwMode="auto">
          <a:xfrm flipV="1">
            <a:off x="1889125" y="2657575"/>
            <a:ext cx="2986088" cy="796925"/>
          </a:xfrm>
          <a:prstGeom prst="bentConnector3">
            <a:avLst>
              <a:gd name="adj1" fmla="val 49972"/>
            </a:avLst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AutoShape 27"/>
          <p:cNvSpPr>
            <a:spLocks noChangeArrowheads="1"/>
          </p:cNvSpPr>
          <p:nvPr/>
        </p:nvSpPr>
        <p:spPr bwMode="auto">
          <a:xfrm>
            <a:off x="2125663" y="4338737"/>
            <a:ext cx="2244725" cy="1295400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 w="222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 b="1">
                <a:ea typeface="宋体" charset="-122"/>
              </a:rPr>
              <a:t>The OS sends changes from production to recovery using the remote journal feature</a:t>
            </a:r>
          </a:p>
        </p:txBody>
      </p:sp>
      <p:grpSp>
        <p:nvGrpSpPr>
          <p:cNvPr id="30" name="Group 28"/>
          <p:cNvGrpSpPr>
            <a:grpSpLocks/>
          </p:cNvGrpSpPr>
          <p:nvPr/>
        </p:nvGrpSpPr>
        <p:grpSpPr bwMode="auto">
          <a:xfrm>
            <a:off x="5589588" y="3833912"/>
            <a:ext cx="1600200" cy="1320800"/>
            <a:chOff x="3648" y="2880"/>
            <a:chExt cx="1008" cy="832"/>
          </a:xfrm>
        </p:grpSpPr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3648" y="2880"/>
              <a:ext cx="457" cy="468"/>
            </a:xfrm>
            <a:prstGeom prst="rect">
              <a:avLst/>
            </a:prstGeom>
            <a:solidFill>
              <a:srgbClr val="FFCC00"/>
            </a:solidFill>
            <a:ln w="6350">
              <a:miter lim="800000"/>
              <a:headEnd/>
              <a:tailEnd/>
            </a:ln>
            <a:effectLst/>
            <a:scene3d>
              <a:camera prst="legacyObliqueTopLeft"/>
              <a:lightRig rig="legacyFlat4" dir="b"/>
            </a:scene3d>
            <a:sp3d extrusionH="2016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3832" y="3058"/>
              <a:ext cx="457" cy="468"/>
            </a:xfrm>
            <a:prstGeom prst="rect">
              <a:avLst/>
            </a:prstGeom>
            <a:solidFill>
              <a:srgbClr val="FFCC00"/>
            </a:solidFill>
            <a:ln w="6350">
              <a:miter lim="800000"/>
              <a:headEnd/>
              <a:tailEnd/>
            </a:ln>
            <a:effectLst/>
            <a:scene3d>
              <a:camera prst="legacyObliqueTopLeft"/>
              <a:lightRig rig="legacyFlat4" dir="b"/>
            </a:scene3d>
            <a:sp3d extrusionH="2016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3999" y="3244"/>
              <a:ext cx="457" cy="468"/>
            </a:xfrm>
            <a:prstGeom prst="rect">
              <a:avLst/>
            </a:prstGeom>
            <a:solidFill>
              <a:srgbClr val="FFCC00"/>
            </a:solidFill>
            <a:ln w="6350">
              <a:miter lim="800000"/>
              <a:headEnd/>
              <a:tailEnd/>
            </a:ln>
            <a:effectLst/>
            <a:scene3d>
              <a:camera prst="legacyObliqueTopLeft"/>
              <a:lightRig rig="legacyFlat4" dir="b"/>
            </a:scene3d>
            <a:sp3d extrusionH="2016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3984" y="3264"/>
              <a:ext cx="67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GB" altLang="zh-CN" sz="1400" b="1"/>
                <a:t>OBJ</a:t>
              </a:r>
            </a:p>
          </p:txBody>
        </p:sp>
      </p:grpSp>
      <p:sp>
        <p:nvSpPr>
          <p:cNvPr id="35" name="Text Box 33"/>
          <p:cNvSpPr txBox="1">
            <a:spLocks noChangeArrowheads="1"/>
          </p:cNvSpPr>
          <p:nvPr/>
        </p:nvSpPr>
        <p:spPr bwMode="auto">
          <a:xfrm rot="5400000">
            <a:off x="7546182" y="2199580"/>
            <a:ext cx="1835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zh-CN" b="1">
                <a:solidFill>
                  <a:srgbClr val="0066CC"/>
                </a:solidFill>
              </a:rPr>
              <a:t>Secondary role</a:t>
            </a:r>
          </a:p>
        </p:txBody>
      </p:sp>
      <p:sp>
        <p:nvSpPr>
          <p:cNvPr id="36" name="Text Box 34"/>
          <p:cNvSpPr txBox="1">
            <a:spLocks noChangeArrowheads="1"/>
          </p:cNvSpPr>
          <p:nvPr/>
        </p:nvSpPr>
        <p:spPr bwMode="auto">
          <a:xfrm rot="5400000">
            <a:off x="3185319" y="2037656"/>
            <a:ext cx="151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altLang="zh-CN" b="1">
                <a:solidFill>
                  <a:srgbClr val="0066CC"/>
                </a:solidFill>
              </a:rPr>
              <a:t>Primary role</a:t>
            </a:r>
          </a:p>
        </p:txBody>
      </p:sp>
      <p:grpSp>
        <p:nvGrpSpPr>
          <p:cNvPr id="37" name="Group 35"/>
          <p:cNvGrpSpPr>
            <a:grpSpLocks/>
          </p:cNvGrpSpPr>
          <p:nvPr/>
        </p:nvGrpSpPr>
        <p:grpSpPr bwMode="auto">
          <a:xfrm>
            <a:off x="4875213" y="1893987"/>
            <a:ext cx="1176337" cy="1525588"/>
            <a:chOff x="1520" y="2047"/>
            <a:chExt cx="741" cy="961"/>
          </a:xfrm>
        </p:grpSpPr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1520" y="2047"/>
              <a:ext cx="741" cy="961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>
              <a:off x="1520" y="2176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>
              <a:off x="1520" y="2341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>
              <a:off x="1520" y="2844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>
              <a:off x="1732" y="2047"/>
              <a:ext cx="1" cy="9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Rectangle 41"/>
            <p:cNvSpPr>
              <a:spLocks noChangeArrowheads="1"/>
            </p:cNvSpPr>
            <p:nvPr/>
          </p:nvSpPr>
          <p:spPr bwMode="auto">
            <a:xfrm>
              <a:off x="1548" y="2065"/>
              <a:ext cx="454" cy="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1585" y="2089"/>
              <a:ext cx="426" cy="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1585" y="2093"/>
              <a:ext cx="387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Rectangle 44"/>
            <p:cNvSpPr>
              <a:spLocks noChangeArrowheads="1"/>
            </p:cNvSpPr>
            <p:nvPr/>
          </p:nvSpPr>
          <p:spPr bwMode="auto">
            <a:xfrm>
              <a:off x="1585" y="2098"/>
              <a:ext cx="361" cy="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>
              <a:off x="1734" y="2810"/>
              <a:ext cx="1" cy="1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1540" y="2068"/>
              <a:ext cx="421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GB" altLang="zh-CN" sz="800" b="1"/>
                <a:t>SEQ.     DATA</a:t>
              </a:r>
              <a:endParaRPr lang="en-GB" altLang="zh-CN" sz="2400" b="1"/>
            </a:p>
          </p:txBody>
        </p:sp>
        <p:sp>
          <p:nvSpPr>
            <p:cNvPr id="49" name="Line 47"/>
            <p:cNvSpPr>
              <a:spLocks noChangeShapeType="1"/>
            </p:cNvSpPr>
            <p:nvPr/>
          </p:nvSpPr>
          <p:spPr bwMode="auto">
            <a:xfrm>
              <a:off x="1524" y="2496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48"/>
            <p:cNvSpPr>
              <a:spLocks noChangeShapeType="1"/>
            </p:cNvSpPr>
            <p:nvPr/>
          </p:nvSpPr>
          <p:spPr bwMode="auto">
            <a:xfrm>
              <a:off x="1524" y="2676"/>
              <a:ext cx="73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51" name="AutoShape 49"/>
          <p:cNvCxnSpPr>
            <a:cxnSpLocks noChangeShapeType="1"/>
          </p:cNvCxnSpPr>
          <p:nvPr/>
        </p:nvCxnSpPr>
        <p:spPr bwMode="auto">
          <a:xfrm>
            <a:off x="6099175" y="2254350"/>
            <a:ext cx="582613" cy="317500"/>
          </a:xfrm>
          <a:prstGeom prst="bentConnector2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Text Box 50"/>
          <p:cNvSpPr txBox="1">
            <a:spLocks noChangeArrowheads="1"/>
          </p:cNvSpPr>
          <p:nvPr/>
        </p:nvSpPr>
        <p:spPr bwMode="auto">
          <a:xfrm>
            <a:off x="6923088" y="1446312"/>
            <a:ext cx="1235075" cy="663575"/>
          </a:xfrm>
          <a:prstGeom prst="rect">
            <a:avLst/>
          </a:prstGeom>
          <a:solidFill>
            <a:srgbClr val="6699CC"/>
          </a:solidFill>
          <a:ln w="222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GB" altLang="zh-CN" b="1">
                <a:solidFill>
                  <a:schemeClr val="bg1"/>
                </a:solidFill>
              </a:rPr>
              <a:t>Recovery</a:t>
            </a:r>
            <a:br>
              <a:rPr lang="en-GB" altLang="zh-CN" b="1">
                <a:solidFill>
                  <a:schemeClr val="bg1"/>
                </a:solidFill>
              </a:rPr>
            </a:br>
            <a:r>
              <a:rPr lang="en-GB" altLang="zh-CN" b="1">
                <a:solidFill>
                  <a:schemeClr val="bg1"/>
                </a:solidFill>
              </a:rPr>
              <a:t>system</a:t>
            </a:r>
          </a:p>
        </p:txBody>
      </p:sp>
      <p:sp>
        <p:nvSpPr>
          <p:cNvPr id="53" name="Text Box 51"/>
          <p:cNvSpPr txBox="1">
            <a:spLocks noChangeArrowheads="1"/>
          </p:cNvSpPr>
          <p:nvPr/>
        </p:nvSpPr>
        <p:spPr bwMode="auto">
          <a:xfrm>
            <a:off x="303213" y="1446312"/>
            <a:ext cx="1412875" cy="663575"/>
          </a:xfrm>
          <a:prstGeom prst="rect">
            <a:avLst/>
          </a:prstGeom>
          <a:solidFill>
            <a:srgbClr val="6699CC"/>
          </a:solidFill>
          <a:ln w="222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GB" altLang="zh-CN" b="1">
                <a:solidFill>
                  <a:schemeClr val="bg1"/>
                </a:solidFill>
              </a:rPr>
              <a:t>Production</a:t>
            </a:r>
          </a:p>
          <a:p>
            <a:pPr algn="ctr" eaLnBrk="0" hangingPunct="0"/>
            <a:r>
              <a:rPr lang="en-GB" altLang="zh-CN" b="1">
                <a:solidFill>
                  <a:schemeClr val="bg1"/>
                </a:solidFill>
              </a:rPr>
              <a:t>system</a:t>
            </a:r>
            <a:endParaRPr lang="en-GB" altLang="zh-CN">
              <a:solidFill>
                <a:schemeClr val="bg1"/>
              </a:solidFill>
            </a:endParaRPr>
          </a:p>
        </p:txBody>
      </p:sp>
      <p:sp>
        <p:nvSpPr>
          <p:cNvPr id="54" name="AutoShape 52"/>
          <p:cNvSpPr>
            <a:spLocks noChangeArrowheads="1"/>
          </p:cNvSpPr>
          <p:nvPr/>
        </p:nvSpPr>
        <p:spPr bwMode="auto">
          <a:xfrm>
            <a:off x="7135813" y="4199037"/>
            <a:ext cx="1806575" cy="1530350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 w="222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400" b="1">
                <a:ea typeface="宋体" charset="-122"/>
              </a:rPr>
              <a:t>The HADDJSR job scrapes the remote journal &amp; places them into the staging library</a:t>
            </a:r>
          </a:p>
        </p:txBody>
      </p:sp>
      <p:grpSp>
        <p:nvGrpSpPr>
          <p:cNvPr id="55" name="Group 53"/>
          <p:cNvGrpSpPr>
            <a:grpSpLocks/>
          </p:cNvGrpSpPr>
          <p:nvPr/>
        </p:nvGrpSpPr>
        <p:grpSpPr bwMode="auto">
          <a:xfrm>
            <a:off x="6457950" y="2686150"/>
            <a:ext cx="1512888" cy="762000"/>
            <a:chOff x="3246" y="1835"/>
            <a:chExt cx="1197" cy="480"/>
          </a:xfrm>
        </p:grpSpPr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3296" y="2267"/>
              <a:ext cx="1097" cy="4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2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57" name="Rectangle 55"/>
            <p:cNvSpPr>
              <a:spLocks noChangeArrowheads="1"/>
            </p:cNvSpPr>
            <p:nvPr/>
          </p:nvSpPr>
          <p:spPr bwMode="auto">
            <a:xfrm>
              <a:off x="4393" y="1835"/>
              <a:ext cx="50" cy="48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2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58" name="Rectangle 56"/>
            <p:cNvSpPr>
              <a:spLocks noChangeArrowheads="1"/>
            </p:cNvSpPr>
            <p:nvPr/>
          </p:nvSpPr>
          <p:spPr bwMode="auto">
            <a:xfrm>
              <a:off x="3346" y="2171"/>
              <a:ext cx="997" cy="48"/>
            </a:xfrm>
            <a:prstGeom prst="rect">
              <a:avLst/>
            </a:prstGeom>
            <a:solidFill>
              <a:srgbClr val="66CCFF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2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66CCFF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0" hangingPunct="0"/>
              <a:r>
                <a:rPr lang="en-GB" altLang="zh-CN" sz="800" b="1"/>
                <a:t>OBJ</a:t>
              </a:r>
              <a:endParaRPr lang="en-GB" altLang="zh-CN" sz="2400" b="1">
                <a:solidFill>
                  <a:srgbClr val="FFFF66"/>
                </a:solidFill>
              </a:endParaRPr>
            </a:p>
          </p:txBody>
        </p:sp>
        <p:sp>
          <p:nvSpPr>
            <p:cNvPr id="59" name="Rectangle 57"/>
            <p:cNvSpPr>
              <a:spLocks noChangeArrowheads="1"/>
            </p:cNvSpPr>
            <p:nvPr/>
          </p:nvSpPr>
          <p:spPr bwMode="auto">
            <a:xfrm>
              <a:off x="3346" y="2075"/>
              <a:ext cx="997" cy="48"/>
            </a:xfrm>
            <a:prstGeom prst="rect">
              <a:avLst/>
            </a:prstGeom>
            <a:solidFill>
              <a:srgbClr val="FFCC00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2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0" hangingPunct="0"/>
              <a:r>
                <a:rPr lang="en-GB" altLang="zh-CN" sz="800" b="1"/>
                <a:t>PF</a:t>
              </a:r>
            </a:p>
          </p:txBody>
        </p:sp>
        <p:sp>
          <p:nvSpPr>
            <p:cNvPr id="60" name="Rectangle 58"/>
            <p:cNvSpPr>
              <a:spLocks noChangeArrowheads="1"/>
            </p:cNvSpPr>
            <p:nvPr/>
          </p:nvSpPr>
          <p:spPr bwMode="auto">
            <a:xfrm>
              <a:off x="3346" y="1979"/>
              <a:ext cx="997" cy="48"/>
            </a:xfrm>
            <a:prstGeom prst="rect">
              <a:avLst/>
            </a:prstGeom>
            <a:solidFill>
              <a:srgbClr val="66CCFF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2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66CCFF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0" hangingPunct="0"/>
              <a:r>
                <a:rPr lang="en-GB" altLang="zh-CN" sz="800" b="1"/>
                <a:t>OBJ</a:t>
              </a:r>
              <a:endParaRPr lang="en-GB" altLang="zh-CN" sz="2400" b="1">
                <a:solidFill>
                  <a:srgbClr val="FFFF66"/>
                </a:solidFill>
              </a:endParaRPr>
            </a:p>
          </p:txBody>
        </p:sp>
        <p:sp>
          <p:nvSpPr>
            <p:cNvPr id="61" name="Rectangle 59"/>
            <p:cNvSpPr>
              <a:spLocks noChangeArrowheads="1"/>
            </p:cNvSpPr>
            <p:nvPr/>
          </p:nvSpPr>
          <p:spPr bwMode="auto">
            <a:xfrm>
              <a:off x="3346" y="1883"/>
              <a:ext cx="997" cy="48"/>
            </a:xfrm>
            <a:prstGeom prst="rect">
              <a:avLst/>
            </a:prstGeom>
            <a:solidFill>
              <a:srgbClr val="FFCC00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2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pPr algn="ctr" eaLnBrk="0" hangingPunct="0"/>
              <a:r>
                <a:rPr lang="en-GB" altLang="zh-CN" sz="800" b="1"/>
                <a:t>PF</a:t>
              </a:r>
              <a:endParaRPr lang="en-GB" altLang="zh-CN" sz="800" b="1">
                <a:solidFill>
                  <a:srgbClr val="FFFF66"/>
                </a:solidFill>
              </a:endParaRPr>
            </a:p>
          </p:txBody>
        </p:sp>
        <p:sp>
          <p:nvSpPr>
            <p:cNvPr id="62" name="Rectangle 60"/>
            <p:cNvSpPr>
              <a:spLocks noChangeArrowheads="1"/>
            </p:cNvSpPr>
            <p:nvPr/>
          </p:nvSpPr>
          <p:spPr bwMode="auto">
            <a:xfrm>
              <a:off x="3246" y="1835"/>
              <a:ext cx="50" cy="48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2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2"/>
              </a:extrusionClr>
            </a:sp3d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63" name="Rectangle 61"/>
            <p:cNvSpPr>
              <a:spLocks noChangeArrowheads="1"/>
            </p:cNvSpPr>
            <p:nvPr/>
          </p:nvSpPr>
          <p:spPr bwMode="auto">
            <a:xfrm>
              <a:off x="3246" y="1835"/>
              <a:ext cx="50" cy="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Rectangle 62"/>
            <p:cNvSpPr>
              <a:spLocks noChangeArrowheads="1"/>
            </p:cNvSpPr>
            <p:nvPr/>
          </p:nvSpPr>
          <p:spPr bwMode="auto">
            <a:xfrm>
              <a:off x="3246" y="2267"/>
              <a:ext cx="1197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Rectangle 63"/>
            <p:cNvSpPr>
              <a:spLocks noChangeArrowheads="1"/>
            </p:cNvSpPr>
            <p:nvPr/>
          </p:nvSpPr>
          <p:spPr bwMode="auto">
            <a:xfrm>
              <a:off x="4393" y="1835"/>
              <a:ext cx="50" cy="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cxnSp>
        <p:nvCxnSpPr>
          <p:cNvPr id="66" name="AutoShape 64"/>
          <p:cNvCxnSpPr>
            <a:cxnSpLocks noChangeShapeType="1"/>
            <a:stCxn id="64" idx="2"/>
            <a:endCxn id="32" idx="0"/>
          </p:cNvCxnSpPr>
          <p:nvPr/>
        </p:nvCxnSpPr>
        <p:spPr bwMode="auto">
          <a:xfrm rot="5400000">
            <a:off x="6396038" y="3297337"/>
            <a:ext cx="668337" cy="969963"/>
          </a:xfrm>
          <a:prstGeom prst="bentConnector3">
            <a:avLst>
              <a:gd name="adj1" fmla="val 49880"/>
            </a:avLst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Text Box 65"/>
          <p:cNvSpPr txBox="1">
            <a:spLocks noChangeArrowheads="1"/>
          </p:cNvSpPr>
          <p:nvPr/>
        </p:nvSpPr>
        <p:spPr bwMode="auto">
          <a:xfrm>
            <a:off x="7323138" y="3622775"/>
            <a:ext cx="725487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GB" altLang="zh-CN" sz="1400" b="1"/>
              <a:t>Target</a:t>
            </a:r>
          </a:p>
          <a:p>
            <a:pPr algn="ctr" eaLnBrk="0" hangingPunct="0"/>
            <a:r>
              <a:rPr lang="en-GB" altLang="zh-CN" sz="1400" b="1"/>
              <a:t>apply</a:t>
            </a:r>
          </a:p>
        </p:txBody>
      </p:sp>
    </p:spTree>
    <p:extLst>
      <p:ext uri="{BB962C8B-B14F-4D97-AF65-F5344CB8AC3E}">
        <p14:creationId xmlns:p14="http://schemas.microsoft.com/office/powerpoint/2010/main" xmlns="" val="414571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 12"/>
          <p:cNvSpPr>
            <a:spLocks noGrp="1"/>
          </p:cNvSpPr>
          <p:nvPr/>
        </p:nvSpPr>
        <p:spPr bwMode="black">
          <a:xfrm>
            <a:off x="153988" y="6302375"/>
            <a:ext cx="1006475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宋体" charset="-122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676CCFCC-192F-4B7B-B736-B5431B3002F5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5" name="Rectangle 2"/>
          <p:cNvSpPr>
            <a:spLocks noGrp="1" noChangeArrowheads="1"/>
          </p:cNvSpPr>
          <p:nvPr/>
        </p:nvSpPr>
        <p:spPr bwMode="auto">
          <a:xfrm>
            <a:off x="153988" y="200025"/>
            <a:ext cx="824547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zh-CN" altLang="en-US" dirty="0" smtClean="0">
                <a:ea typeface="宋体" charset="-122"/>
              </a:rPr>
              <a:t>实施监控</a:t>
            </a:r>
            <a:r>
              <a:rPr lang="en-US" altLang="zh-CN" dirty="0" err="1" smtClean="0">
                <a:ea typeface="宋体" charset="-122"/>
              </a:rPr>
              <a:t>iCluster</a:t>
            </a:r>
            <a:r>
              <a:rPr lang="zh-CN" altLang="en-US" dirty="0" smtClean="0">
                <a:ea typeface="宋体" charset="-122"/>
              </a:rPr>
              <a:t>复制效率</a:t>
            </a:r>
            <a:r>
              <a:rPr lang="en-US" altLang="zh-CN" dirty="0" smtClean="0">
                <a:ea typeface="宋体" charset="-122"/>
              </a:rPr>
              <a:t>(Source</a:t>
            </a:r>
            <a:r>
              <a:rPr lang="en-US" altLang="zh-CN" dirty="0">
                <a:ea typeface="宋体" charset="-122"/>
              </a:rPr>
              <a:t>)</a:t>
            </a:r>
          </a:p>
        </p:txBody>
      </p:sp>
      <p:sp>
        <p:nvSpPr>
          <p:cNvPr id="6" name="Rectangle 3"/>
          <p:cNvSpPr>
            <a:spLocks noGrp="1" noChangeArrowheads="1"/>
          </p:cNvSpPr>
          <p:nvPr/>
        </p:nvSpPr>
        <p:spPr bwMode="auto">
          <a:xfrm>
            <a:off x="228600" y="714375"/>
            <a:ext cx="86106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69863" indent="-169863" algn="l" rtl="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1825" indent="-166688" algn="l" rtl="0" fontAlgn="base">
              <a:spcBef>
                <a:spcPct val="25000"/>
              </a:spcBef>
              <a:spcAft>
                <a:spcPct val="15000"/>
              </a:spcAft>
              <a:buClr>
                <a:schemeClr val="tx1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7113" indent="-112713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3pPr>
            <a:lvl4pPr marL="1546225" indent="-17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941513" indent="-112713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›"/>
              <a:defRPr sz="1400">
                <a:solidFill>
                  <a:schemeClr val="tx1"/>
                </a:solidFill>
                <a:latin typeface="+mn-lt"/>
                <a:cs typeface="+mn-cs"/>
              </a:defRPr>
            </a:lvl5pPr>
            <a:lvl6pPr marL="2398713" indent="-112713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›"/>
              <a:defRPr sz="1400">
                <a:solidFill>
                  <a:schemeClr val="tx1"/>
                </a:solidFill>
                <a:latin typeface="+mn-lt"/>
                <a:cs typeface="+mn-cs"/>
              </a:defRPr>
            </a:lvl6pPr>
            <a:lvl7pPr marL="2855913" indent="-112713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›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3313113" indent="-112713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›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3770313" indent="-112713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›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charset="-122"/>
              </a:rPr>
              <a:t>F11=Overall Latency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charset="-122"/>
              </a:rPr>
              <a:t>F11=Object Latency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charset="-122"/>
              </a:rPr>
              <a:t>F11=Object Position &amp; Totals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charset="-122"/>
              </a:rPr>
              <a:t>F11=Object Throughput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1600" dirty="0">
              <a:ea typeface="宋体" charset="-122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1600" dirty="0">
                <a:ea typeface="宋体" charset="-122"/>
              </a:rPr>
              <a:t>Remember to set session screen width to 132.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1600" dirty="0">
              <a:ea typeface="宋体" charset="-12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410200" y="665163"/>
            <a:ext cx="928688" cy="134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0" hangingPunct="0"/>
            <a:r>
              <a:rPr lang="en-US" altLang="zh-CN" sz="1600" b="1">
                <a:ea typeface="宋体" charset="-122"/>
              </a:rPr>
              <a:t>(view 1)</a:t>
            </a:r>
          </a:p>
          <a:p>
            <a:pPr eaLnBrk="0" hangingPunct="0"/>
            <a:r>
              <a:rPr lang="en-US" altLang="zh-CN" sz="1600" b="1">
                <a:ea typeface="宋体" charset="-122"/>
              </a:rPr>
              <a:t>(view 2)</a:t>
            </a:r>
          </a:p>
          <a:p>
            <a:pPr eaLnBrk="0" hangingPunct="0"/>
            <a:r>
              <a:rPr lang="en-US" altLang="zh-CN" sz="1600" b="1">
                <a:ea typeface="宋体" charset="-122"/>
              </a:rPr>
              <a:t>(view 3)</a:t>
            </a:r>
          </a:p>
          <a:p>
            <a:pPr eaLnBrk="0" hangingPunct="0"/>
            <a:r>
              <a:rPr lang="en-US" altLang="zh-CN" sz="1600" b="1">
                <a:ea typeface="宋体" charset="-122"/>
              </a:rPr>
              <a:t>(view 4)</a:t>
            </a:r>
          </a:p>
          <a:p>
            <a:pPr eaLnBrk="0" hangingPunct="0"/>
            <a:endParaRPr lang="en-US" altLang="zh-CN" b="1">
              <a:ea typeface="宋体" charset="-122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2924175"/>
            <a:ext cx="5600700" cy="3354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889125" y="5224463"/>
            <a:ext cx="1098550" cy="366712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altLang="zh-CN">
                <a:ea typeface="宋体" charset="-122"/>
              </a:rPr>
              <a:t>27 X 132</a:t>
            </a:r>
          </a:p>
        </p:txBody>
      </p:sp>
      <p:grpSp>
        <p:nvGrpSpPr>
          <p:cNvPr id="10" name="Group 15"/>
          <p:cNvGrpSpPr>
            <a:grpSpLocks/>
          </p:cNvGrpSpPr>
          <p:nvPr/>
        </p:nvGrpSpPr>
        <p:grpSpPr bwMode="auto">
          <a:xfrm>
            <a:off x="228600" y="2060576"/>
            <a:ext cx="8915402" cy="3960813"/>
            <a:chOff x="144" y="1424"/>
            <a:chExt cx="5616" cy="2495"/>
          </a:xfrm>
        </p:grpSpPr>
        <p:pic>
          <p:nvPicPr>
            <p:cNvPr id="11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3" y="1712"/>
              <a:ext cx="2947" cy="2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3772" y="3609"/>
              <a:ext cx="612" cy="23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r>
                <a:rPr lang="en-US" altLang="zh-CN">
                  <a:ea typeface="宋体" charset="-122"/>
                </a:rPr>
                <a:t>27 X 80</a:t>
              </a:r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2688" y="2640"/>
              <a:ext cx="153" cy="57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Oval 11"/>
            <p:cNvSpPr>
              <a:spLocks noChangeArrowheads="1"/>
            </p:cNvSpPr>
            <p:nvPr/>
          </p:nvSpPr>
          <p:spPr bwMode="auto">
            <a:xfrm>
              <a:off x="2400" y="2640"/>
              <a:ext cx="153" cy="57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144" y="1424"/>
              <a:ext cx="4752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r>
                <a:rPr lang="en-US" altLang="zh-CN" sz="1600" b="1" dirty="0">
                  <a:ea typeface="宋体" charset="-122"/>
                </a:rPr>
                <a:t>NOTE: At IBM </a:t>
              </a:r>
              <a:r>
                <a:rPr lang="en-US" altLang="zh-CN" sz="1600" b="1" dirty="0" err="1">
                  <a:ea typeface="宋体" charset="-122"/>
                </a:rPr>
                <a:t>iCluster</a:t>
              </a:r>
              <a:r>
                <a:rPr lang="en-US" altLang="zh-CN" sz="1600" b="1" dirty="0">
                  <a:ea typeface="宋体" charset="-122"/>
                </a:rPr>
                <a:t> 5.2 a screen width of 80 shows a truncated monitor (no OP or R field in Status) and no Overall Latency View.</a:t>
              </a:r>
            </a:p>
            <a:p>
              <a:endParaRPr lang="en-US" altLang="zh-CN" sz="1600" dirty="0">
                <a:ea typeface="宋体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55719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/>
        </p:nvSpPr>
        <p:spPr bwMode="auto">
          <a:xfrm>
            <a:off x="153988" y="260648"/>
            <a:ext cx="851217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zh-CN" altLang="en-US" dirty="0" smtClean="0">
                <a:ea typeface="宋体" charset="-122"/>
              </a:rPr>
              <a:t>实施</a:t>
            </a:r>
            <a:r>
              <a:rPr lang="zh-CN" altLang="en-US" dirty="0">
                <a:ea typeface="宋体" charset="-122"/>
              </a:rPr>
              <a:t>监控</a:t>
            </a:r>
            <a:r>
              <a:rPr lang="en-US" altLang="zh-CN" dirty="0" err="1">
                <a:ea typeface="宋体" charset="-122"/>
              </a:rPr>
              <a:t>iCluster</a:t>
            </a:r>
            <a:r>
              <a:rPr lang="zh-CN" altLang="en-US" dirty="0">
                <a:ea typeface="宋体" charset="-122"/>
              </a:rPr>
              <a:t>复制效率</a:t>
            </a:r>
            <a:r>
              <a:rPr lang="en-US" altLang="zh-CN" dirty="0" smtClean="0">
                <a:ea typeface="宋体" charset="-122"/>
              </a:rPr>
              <a:t>: </a:t>
            </a:r>
            <a:r>
              <a:rPr lang="en-US" altLang="zh-CN" dirty="0">
                <a:ea typeface="宋体" charset="-122"/>
              </a:rPr>
              <a:t>View 1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" y="836712"/>
            <a:ext cx="8236024" cy="5147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04782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/>
        </p:nvSpPr>
        <p:spPr bwMode="auto">
          <a:xfrm>
            <a:off x="153988" y="188640"/>
            <a:ext cx="849947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zh-CN" altLang="en-US" dirty="0">
                <a:ea typeface="宋体" charset="-122"/>
              </a:rPr>
              <a:t>实施监控</a:t>
            </a:r>
            <a:r>
              <a:rPr lang="en-US" altLang="zh-CN" dirty="0" err="1">
                <a:ea typeface="宋体" charset="-122"/>
              </a:rPr>
              <a:t>iCluster</a:t>
            </a:r>
            <a:r>
              <a:rPr lang="zh-CN" altLang="en-US" dirty="0">
                <a:ea typeface="宋体" charset="-122"/>
              </a:rPr>
              <a:t>复制效率</a:t>
            </a:r>
            <a:r>
              <a:rPr lang="en-US" altLang="zh-CN" dirty="0" smtClean="0">
                <a:ea typeface="宋体" charset="-122"/>
              </a:rPr>
              <a:t>: </a:t>
            </a:r>
            <a:r>
              <a:rPr lang="en-US" altLang="zh-CN" dirty="0">
                <a:ea typeface="宋体" charset="-122"/>
              </a:rPr>
              <a:t>View 2</a:t>
            </a: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836712"/>
            <a:ext cx="8092008" cy="5057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18519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987079"/>
            <a:ext cx="91440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Grp="1" noChangeArrowheads="1"/>
          </p:cNvSpPr>
          <p:nvPr/>
        </p:nvSpPr>
        <p:spPr bwMode="auto">
          <a:xfrm>
            <a:off x="170095" y="236537"/>
            <a:ext cx="824547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zh-CN" altLang="en-US" dirty="0" smtClean="0"/>
              <a:t>检查</a:t>
            </a:r>
            <a:r>
              <a:rPr lang="en-US" altLang="zh-CN" dirty="0" err="1" smtClean="0"/>
              <a:t>iCluster</a:t>
            </a:r>
            <a:r>
              <a:rPr lang="zh-CN" altLang="en-US" dirty="0" smtClean="0"/>
              <a:t>复制链路的处理情况：</a:t>
            </a:r>
            <a:endParaRPr lang="en-GB" altLang="zh-CN" dirty="0"/>
          </a:p>
        </p:txBody>
      </p:sp>
      <p:sp>
        <p:nvSpPr>
          <p:cNvPr id="4" name="Rectangle 4"/>
          <p:cNvSpPr>
            <a:spLocks noGrp="1" noChangeArrowheads="1"/>
          </p:cNvSpPr>
          <p:nvPr/>
        </p:nvSpPr>
        <p:spPr bwMode="auto">
          <a:xfrm>
            <a:off x="477838" y="764704"/>
            <a:ext cx="8382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69863" indent="-169863" algn="l" rtl="0" fontAlgn="base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1825" indent="-166688" algn="l" rtl="0" fontAlgn="base">
              <a:spcBef>
                <a:spcPct val="25000"/>
              </a:spcBef>
              <a:spcAft>
                <a:spcPct val="15000"/>
              </a:spcAft>
              <a:buClr>
                <a:schemeClr val="tx1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7113" indent="-112713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3pPr>
            <a:lvl4pPr marL="1546225" indent="-17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941513" indent="-112713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›"/>
              <a:defRPr sz="1400">
                <a:solidFill>
                  <a:schemeClr val="tx1"/>
                </a:solidFill>
                <a:latin typeface="+mn-lt"/>
                <a:cs typeface="+mn-cs"/>
              </a:defRPr>
            </a:lvl5pPr>
            <a:lvl6pPr marL="2398713" indent="-112713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›"/>
              <a:defRPr sz="1400">
                <a:solidFill>
                  <a:schemeClr val="tx1"/>
                </a:solidFill>
                <a:latin typeface="+mn-lt"/>
                <a:cs typeface="+mn-cs"/>
              </a:defRPr>
            </a:lvl6pPr>
            <a:lvl7pPr marL="2855913" indent="-112713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›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3313113" indent="-112713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›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3770313" indent="-112713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›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GB" altLang="zh-CN" sz="1600" b="0" dirty="0"/>
              <a:t>Select F11 for the </a:t>
            </a:r>
            <a:r>
              <a:rPr lang="en-GB" altLang="zh-CN" sz="1600" b="0" u="sng" dirty="0"/>
              <a:t>Totals View</a:t>
            </a:r>
            <a:r>
              <a:rPr lang="en-GB" altLang="zh-CN" sz="1600" b="0" dirty="0"/>
              <a:t> (view - 3)</a:t>
            </a:r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2746375" y="2128367"/>
            <a:ext cx="4075113" cy="1031875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endParaRPr lang="zh-CN" altLang="en-US"/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192088" y="1115542"/>
            <a:ext cx="2687637" cy="1492250"/>
          </a:xfrm>
          <a:prstGeom prst="wedgeRoundRectCallout">
            <a:avLst>
              <a:gd name="adj1" fmla="val 61458"/>
              <a:gd name="adj2" fmla="val 34787"/>
              <a:gd name="adj3" fmla="val 16667"/>
            </a:avLst>
          </a:prstGeom>
          <a:solidFill>
            <a:srgbClr val="FFCC00"/>
          </a:solidFill>
          <a:ln w="222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0" hangingPunct="0"/>
            <a:r>
              <a:rPr lang="en-GB" altLang="zh-CN" sz="1400" b="1"/>
              <a:t>The last journal receiver sequence number that was written to the journal on the primary system for both active and inactive targets.</a:t>
            </a:r>
            <a:endParaRPr lang="en-US" altLang="zh-CN" b="1">
              <a:ea typeface="宋体" charset="-122"/>
            </a:endParaRP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300038" y="5057304"/>
            <a:ext cx="8266112" cy="927100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 w="22225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0" hangingPunct="0"/>
            <a:r>
              <a:rPr lang="en-GB" altLang="zh-CN" sz="1600" b="1"/>
              <a:t>TIP: Monitor Historical Statistics by keying in option 12- History in the Opt field beside the node group/journal combination whose historical object latency you want to view.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1259632" y="3472861"/>
            <a:ext cx="2360612" cy="574675"/>
          </a:xfrm>
          <a:prstGeom prst="wedgeRoundRectCallout">
            <a:avLst>
              <a:gd name="adj1" fmla="val 94839"/>
              <a:gd name="adj2" fmla="val 51319"/>
              <a:gd name="adj3" fmla="val 16667"/>
            </a:avLst>
          </a:prstGeom>
          <a:solidFill>
            <a:srgbClr val="FFCC00"/>
          </a:solidFill>
          <a:ln w="222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0" hangingPunct="0"/>
            <a:r>
              <a:rPr lang="en-US" altLang="zh-CN" sz="1400" b="1" dirty="0">
                <a:ea typeface="宋体" charset="-122"/>
              </a:rPr>
              <a:t>These values should</a:t>
            </a:r>
          </a:p>
          <a:p>
            <a:pPr eaLnBrk="0" hangingPunct="0"/>
            <a:r>
              <a:rPr lang="en-US" altLang="zh-CN" sz="1400" b="1" dirty="0">
                <a:ea typeface="宋体" charset="-122"/>
              </a:rPr>
              <a:t>be changing and close</a:t>
            </a:r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4176713" y="1144117"/>
            <a:ext cx="4967287" cy="1031875"/>
          </a:xfrm>
          <a:prstGeom prst="wedgeRoundRectCallout">
            <a:avLst>
              <a:gd name="adj1" fmla="val -33958"/>
              <a:gd name="adj2" fmla="val 81231"/>
              <a:gd name="adj3" fmla="val 16667"/>
            </a:avLst>
          </a:prstGeom>
          <a:solidFill>
            <a:srgbClr val="FFCC00"/>
          </a:solidFill>
          <a:ln w="222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0" hangingPunct="0"/>
            <a:r>
              <a:rPr lang="en-GB" altLang="zh-CN" sz="1400" b="1"/>
              <a:t>The journal receiver sequence number that the primary system process is currently scraping. For inactive targets, it’s the last known scraping position.</a:t>
            </a:r>
            <a:endParaRPr lang="en-US" altLang="zh-CN" sz="1400" b="1">
              <a:ea typeface="宋体" charset="-122"/>
            </a:endParaRPr>
          </a:p>
        </p:txBody>
      </p:sp>
      <p:sp>
        <p:nvSpPr>
          <p:cNvPr id="10" name="AutoShape 10"/>
          <p:cNvSpPr>
            <a:spLocks noChangeArrowheads="1"/>
          </p:cNvSpPr>
          <p:nvPr/>
        </p:nvSpPr>
        <p:spPr bwMode="auto">
          <a:xfrm>
            <a:off x="5387975" y="3668242"/>
            <a:ext cx="3522663" cy="1263650"/>
          </a:xfrm>
          <a:prstGeom prst="wedgeRoundRectCallout">
            <a:avLst>
              <a:gd name="adj1" fmla="val -23412"/>
              <a:gd name="adj2" fmla="val -117213"/>
              <a:gd name="adj3" fmla="val 16667"/>
            </a:avLst>
          </a:prstGeom>
          <a:solidFill>
            <a:srgbClr val="FFCC00"/>
          </a:solidFill>
          <a:ln w="222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0" hangingPunct="0">
              <a:spcAft>
                <a:spcPts val="1200"/>
              </a:spcAft>
            </a:pPr>
            <a:r>
              <a:rPr lang="en-GB" altLang="zh-CN" sz="1400" b="1"/>
              <a:t>The last journal receiver sequence number that was applied to backup system database by the apply process. This will only be displayed for active nodes.</a:t>
            </a:r>
            <a:endParaRPr lang="en-US" altLang="zh-CN" sz="1400" b="1">
              <a:ea typeface="宋体" charset="-122"/>
            </a:endParaRPr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3978275" y="4049242"/>
            <a:ext cx="3146425" cy="757237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76244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/>
        </p:nvSpPr>
        <p:spPr bwMode="auto">
          <a:xfrm>
            <a:off x="76994" y="250354"/>
            <a:ext cx="8990012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zh-CN" altLang="en-US" dirty="0">
                <a:ea typeface="宋体" charset="-122"/>
              </a:rPr>
              <a:t>实施监控</a:t>
            </a:r>
            <a:r>
              <a:rPr lang="en-US" altLang="zh-CN" dirty="0" err="1">
                <a:ea typeface="宋体" charset="-122"/>
              </a:rPr>
              <a:t>iCluster</a:t>
            </a:r>
            <a:r>
              <a:rPr lang="zh-CN" altLang="en-US" dirty="0">
                <a:ea typeface="宋体" charset="-122"/>
              </a:rPr>
              <a:t>复制效率</a:t>
            </a:r>
            <a:r>
              <a:rPr lang="en-US" altLang="zh-CN" dirty="0" smtClean="0">
                <a:ea typeface="宋体" charset="-122"/>
              </a:rPr>
              <a:t>: </a:t>
            </a:r>
            <a:r>
              <a:rPr lang="en-US" altLang="zh-CN" dirty="0">
                <a:ea typeface="宋体" charset="-122"/>
              </a:rPr>
              <a:t>View 4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0169" y="764704"/>
            <a:ext cx="8452271" cy="514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16894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5906" y="764704"/>
            <a:ext cx="8338542" cy="5211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3"/>
          <p:cNvSpPr>
            <a:spLocks noGrp="1" noChangeArrowheads="1"/>
          </p:cNvSpPr>
          <p:nvPr/>
        </p:nvSpPr>
        <p:spPr bwMode="auto">
          <a:xfrm>
            <a:off x="191294" y="263054"/>
            <a:ext cx="824547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zh-CN" altLang="en-US" dirty="0" smtClean="0"/>
              <a:t>检查不一致的对象 </a:t>
            </a:r>
            <a:r>
              <a:rPr lang="en-GB" altLang="zh-CN" dirty="0" smtClean="0"/>
              <a:t>- </a:t>
            </a:r>
            <a:r>
              <a:rPr lang="en-GB" altLang="zh-CN" dirty="0"/>
              <a:t>1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2475706" y="3571875"/>
            <a:ext cx="4656138" cy="2351088"/>
            <a:chOff x="1229" y="2450"/>
            <a:chExt cx="2699" cy="1399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1229" y="3075"/>
              <a:ext cx="1910" cy="774"/>
            </a:xfrm>
            <a:prstGeom prst="wedgeRoundRectCallout">
              <a:avLst>
                <a:gd name="adj1" fmla="val 72722"/>
                <a:gd name="adj2" fmla="val -96708"/>
                <a:gd name="adj3" fmla="val 16667"/>
              </a:avLst>
            </a:prstGeom>
            <a:solidFill>
              <a:srgbClr val="FFCC00"/>
            </a:solidFill>
            <a:ln w="222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/>
              <a:r>
                <a:rPr lang="en-US" altLang="zh-CN" b="1">
                  <a:ea typeface="宋体" charset="-122"/>
                </a:rPr>
                <a:t>You have two objects suspended.  Investigate by selecting Option 8 - Object Status</a:t>
              </a:r>
              <a:endParaRPr lang="en-US" altLang="zh-CN">
                <a:ea typeface="宋体" charset="-122"/>
              </a:endParaRPr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3516" y="2450"/>
              <a:ext cx="412" cy="295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229413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825565"/>
            <a:ext cx="7064896" cy="529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449262" y="260648"/>
            <a:ext cx="824547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zh-CN" altLang="en-US" dirty="0"/>
              <a:t>检查不一致的对象 </a:t>
            </a:r>
            <a:r>
              <a:rPr lang="zh-CN" altLang="en-US" dirty="0" smtClean="0"/>
              <a:t> </a:t>
            </a:r>
            <a:r>
              <a:rPr lang="en-GB" altLang="zh-CN" dirty="0" smtClean="0"/>
              <a:t>- </a:t>
            </a:r>
            <a:r>
              <a:rPr lang="en-GB" altLang="zh-CN" dirty="0"/>
              <a:t>2</a:t>
            </a:r>
          </a:p>
        </p:txBody>
      </p:sp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3396603" y="2852936"/>
            <a:ext cx="4271963" cy="2519363"/>
            <a:chOff x="1886" y="1707"/>
            <a:chExt cx="2471" cy="1541"/>
          </a:xfrm>
        </p:grpSpPr>
        <p:sp>
          <p:nvSpPr>
            <p:cNvPr id="5" name="AutoShape 7"/>
            <p:cNvSpPr>
              <a:spLocks noChangeArrowheads="1"/>
            </p:cNvSpPr>
            <p:nvPr/>
          </p:nvSpPr>
          <p:spPr bwMode="auto">
            <a:xfrm>
              <a:off x="1886" y="2452"/>
              <a:ext cx="2471" cy="796"/>
            </a:xfrm>
            <a:prstGeom prst="wedgeRoundRectCallout">
              <a:avLst>
                <a:gd name="adj1" fmla="val 35514"/>
                <a:gd name="adj2" fmla="val -83287"/>
                <a:gd name="adj3" fmla="val 16667"/>
              </a:avLst>
            </a:prstGeom>
            <a:solidFill>
              <a:srgbClr val="FFCC00"/>
            </a:solidFill>
            <a:ln w="222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eaLnBrk="0" hangingPunct="0"/>
              <a:r>
                <a:rPr lang="en-US" altLang="zh-CN" b="1">
                  <a:ea typeface="宋体" charset="-122"/>
                </a:rPr>
                <a:t>You have one object suspended with reason code EJF. What does this mean? (F1 will give you a description)</a:t>
              </a:r>
            </a:p>
          </p:txBody>
        </p:sp>
        <p:sp>
          <p:nvSpPr>
            <p:cNvPr id="6" name="Oval 8"/>
            <p:cNvSpPr>
              <a:spLocks noChangeArrowheads="1"/>
            </p:cNvSpPr>
            <p:nvPr/>
          </p:nvSpPr>
          <p:spPr bwMode="auto">
            <a:xfrm rot="-3224442">
              <a:off x="3805" y="1751"/>
              <a:ext cx="379" cy="292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308051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346075"/>
          </a:xfrm>
        </p:spPr>
        <p:txBody>
          <a:bodyPr/>
          <a:lstStyle/>
          <a:p>
            <a:r>
              <a:rPr lang="en-US" altLang="zh-CN" dirty="0" err="1" smtClean="0"/>
              <a:t>iCluster</a:t>
            </a:r>
            <a:r>
              <a:rPr lang="en-US" altLang="zh-CN" dirty="0" smtClean="0"/>
              <a:t> </a:t>
            </a:r>
            <a:r>
              <a:rPr lang="zh-CN" altLang="en-US" dirty="0"/>
              <a:t>产品</a:t>
            </a:r>
            <a:r>
              <a:rPr lang="zh-CN" altLang="en-US" dirty="0" smtClean="0"/>
              <a:t>版本线路图：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5.2        -  2008</a:t>
            </a:r>
          </a:p>
          <a:p>
            <a:r>
              <a:rPr lang="en-US" altLang="zh-CN" dirty="0" smtClean="0"/>
              <a:t>5.2 TL1 -  2010</a:t>
            </a:r>
          </a:p>
          <a:p>
            <a:r>
              <a:rPr lang="en-US" altLang="zh-CN" dirty="0" smtClean="0"/>
              <a:t>7.1        -  2012</a:t>
            </a:r>
          </a:p>
          <a:p>
            <a:r>
              <a:rPr lang="en-US" altLang="zh-CN" dirty="0" smtClean="0"/>
              <a:t>7.1 TL1 -  2013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1988945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6856" y="332656"/>
            <a:ext cx="8229600" cy="346075"/>
          </a:xfrm>
        </p:spPr>
        <p:txBody>
          <a:bodyPr/>
          <a:lstStyle/>
          <a:p>
            <a:r>
              <a:rPr lang="en-US" altLang="zh-CN" dirty="0" err="1" smtClean="0"/>
              <a:t>iCluster</a:t>
            </a:r>
            <a:r>
              <a:rPr lang="en-US" altLang="zh-CN" dirty="0" smtClean="0"/>
              <a:t> License &amp; MA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8150" y="908720"/>
            <a:ext cx="8229600" cy="4525962"/>
          </a:xfrm>
        </p:spPr>
        <p:txBody>
          <a:bodyPr/>
          <a:lstStyle/>
          <a:p>
            <a:pPr lvl="0"/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Simple, machine-based licensing, plus the ease of use of </a:t>
            </a:r>
            <a:r>
              <a:rPr lang="en-US" altLang="zh-CN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iCluster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makes HA/DR affordable for SMB through Enterprise businesses.  </a:t>
            </a:r>
            <a:r>
              <a:rPr lang="en-US" altLang="zh-CN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iCluster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licensed by server rather than each LPAR or by processor.  Customers can add LPARS and protect them with </a:t>
            </a:r>
            <a:r>
              <a:rPr lang="en-US" altLang="zh-CN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iCluster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without the need for additional licensing.  In addition, development environments can now be protected with no additional logical replication costs.   </a:t>
            </a:r>
            <a:endParaRPr lang="zh-CN" altLang="zh-CN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comprehensive, easy-to-use customer portal provides what you need, when you need it. </a:t>
            </a:r>
            <a:endParaRPr lang="zh-CN" altLang="zh-CN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 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 you buy - find out if </a:t>
            </a:r>
            <a:r>
              <a:rPr lang="en-US" altLang="zh-CN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iCluster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meets your needs with free, hands-on experience by downloading the free </a:t>
            </a:r>
            <a:r>
              <a:rPr lang="en-US" altLang="zh-CN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iCluster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trial.</a:t>
            </a:r>
            <a:endParaRPr lang="zh-CN" altLang="zh-CN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a trusted IBM partner for over 20 years we are committed to products for the IBM </a:t>
            </a:r>
            <a:r>
              <a:rPr lang="en-US" altLang="zh-CN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environment. </a:t>
            </a:r>
            <a:endParaRPr lang="zh-CN" altLang="zh-CN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388303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346075"/>
          </a:xfrm>
        </p:spPr>
        <p:txBody>
          <a:bodyPr/>
          <a:lstStyle/>
          <a:p>
            <a:r>
              <a:rPr lang="en-US" altLang="zh-CN" dirty="0" err="1" smtClean="0"/>
              <a:t>iCluster</a:t>
            </a:r>
            <a:r>
              <a:rPr lang="en-US" altLang="zh-CN" dirty="0" smtClean="0"/>
              <a:t> </a:t>
            </a:r>
            <a:r>
              <a:rPr lang="zh-CN" altLang="en-US" dirty="0" smtClean="0"/>
              <a:t>实施案例 </a:t>
            </a:r>
            <a:r>
              <a:rPr lang="en-US" altLang="zh-CN" dirty="0" smtClean="0"/>
              <a:t>1 – </a:t>
            </a:r>
            <a:r>
              <a:rPr lang="zh-CN" altLang="en-US" dirty="0" smtClean="0"/>
              <a:t>甘肃农信高可用架构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7572" y="836712"/>
            <a:ext cx="6362700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55576" y="4365104"/>
            <a:ext cx="62646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 smtClean="0"/>
              <a:t>两地三中心，</a:t>
            </a:r>
            <a:r>
              <a:rPr lang="en-US" altLang="zh-CN" dirty="0" smtClean="0"/>
              <a:t>4</a:t>
            </a:r>
            <a:r>
              <a:rPr lang="zh-CN" altLang="en-US" dirty="0" smtClean="0"/>
              <a:t>节点，使用</a:t>
            </a:r>
            <a:r>
              <a:rPr lang="en-US" altLang="zh-CN" dirty="0" smtClean="0"/>
              <a:t>Rocket </a:t>
            </a:r>
            <a:r>
              <a:rPr lang="en-US" altLang="zh-CN" dirty="0" err="1" smtClean="0"/>
              <a:t>iCluster</a:t>
            </a:r>
            <a:r>
              <a:rPr lang="en-US" altLang="zh-CN" dirty="0" smtClean="0"/>
              <a:t> 7.1/i5OS R611</a:t>
            </a:r>
            <a:r>
              <a:rPr lang="zh-CN" altLang="en-US" dirty="0" smtClean="0"/>
              <a:t>构建基于日志的高可用架构。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从</a:t>
            </a:r>
            <a:r>
              <a:rPr lang="en-US" altLang="zh-CN" dirty="0" smtClean="0"/>
              <a:t>2010</a:t>
            </a:r>
            <a:r>
              <a:rPr lang="zh-CN" altLang="en-US" dirty="0" smtClean="0"/>
              <a:t>年实施至今运行稳定，每年至少</a:t>
            </a:r>
            <a:r>
              <a:rPr lang="en-US" altLang="zh-CN" dirty="0" smtClean="0"/>
              <a:t>2</a:t>
            </a:r>
            <a:r>
              <a:rPr lang="zh-CN" altLang="en-US" dirty="0" smtClean="0"/>
              <a:t>次计划切换。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4858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346075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iCluster</a:t>
            </a:r>
            <a:r>
              <a:rPr lang="en-US" altLang="zh-CN" dirty="0"/>
              <a:t> </a:t>
            </a:r>
            <a:r>
              <a:rPr lang="zh-CN" altLang="en-US" dirty="0"/>
              <a:t>实施案例 </a:t>
            </a:r>
            <a:r>
              <a:rPr lang="en-US" altLang="zh-CN" dirty="0" smtClean="0"/>
              <a:t>2 </a:t>
            </a:r>
            <a:r>
              <a:rPr lang="en-US" altLang="zh-CN" dirty="0"/>
              <a:t>– </a:t>
            </a:r>
            <a:r>
              <a:rPr lang="zh-CN" altLang="en-US" dirty="0" smtClean="0"/>
              <a:t>青岛银行高可用方案</a:t>
            </a:r>
            <a:endParaRPr lang="zh-CN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9060" y="902568"/>
            <a:ext cx="44958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20072" y="908720"/>
            <a:ext cx="29523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 smtClean="0"/>
              <a:t>青岛机房</a:t>
            </a:r>
            <a:r>
              <a:rPr lang="en-US" altLang="zh-CN" dirty="0" smtClean="0"/>
              <a:t>2</a:t>
            </a:r>
            <a:r>
              <a:rPr lang="zh-CN" altLang="en-US" dirty="0" smtClean="0"/>
              <a:t>台</a:t>
            </a:r>
            <a:r>
              <a:rPr lang="en-US" altLang="zh-CN" dirty="0" smtClean="0"/>
              <a:t>i780</a:t>
            </a:r>
            <a:r>
              <a:rPr lang="zh-CN" altLang="en-US" dirty="0" smtClean="0"/>
              <a:t>通过</a:t>
            </a:r>
            <a:r>
              <a:rPr lang="en-US" altLang="zh-CN" dirty="0" err="1" smtClean="0"/>
              <a:t>PowerHA</a:t>
            </a:r>
            <a:r>
              <a:rPr lang="en-US" altLang="zh-CN" dirty="0" smtClean="0"/>
              <a:t> Metro-Mirror</a:t>
            </a:r>
            <a:r>
              <a:rPr lang="zh-CN" altLang="en-US" dirty="0" smtClean="0"/>
              <a:t>存储复制技术搭建高可用方案。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在主机房生产机和上海灾备机房</a:t>
            </a:r>
            <a:r>
              <a:rPr lang="zh-CN" altLang="en-US" dirty="0"/>
              <a:t>灾备机</a:t>
            </a:r>
            <a:r>
              <a:rPr lang="en-US" altLang="zh-CN" dirty="0" smtClean="0"/>
              <a:t>MMA</a:t>
            </a:r>
            <a:r>
              <a:rPr lang="zh-CN" altLang="en-US" dirty="0" smtClean="0"/>
              <a:t>之间通过</a:t>
            </a:r>
            <a:r>
              <a:rPr lang="en-US" altLang="zh-CN" dirty="0" smtClean="0"/>
              <a:t>Rocket </a:t>
            </a:r>
            <a:r>
              <a:rPr lang="en-US" altLang="zh-CN" dirty="0" err="1" smtClean="0"/>
              <a:t>iCluster</a:t>
            </a:r>
            <a:r>
              <a:rPr lang="en-US" altLang="zh-CN" dirty="0" smtClean="0"/>
              <a:t> 7.1 TL1 </a:t>
            </a:r>
            <a:r>
              <a:rPr lang="zh-CN" altLang="en-US" dirty="0" smtClean="0"/>
              <a:t>搭建基于数据库日志的复制链路。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当</a:t>
            </a:r>
            <a:r>
              <a:rPr lang="en-US" altLang="zh-CN" dirty="0" smtClean="0"/>
              <a:t>i780</a:t>
            </a:r>
            <a:r>
              <a:rPr lang="zh-CN" altLang="en-US" dirty="0" smtClean="0"/>
              <a:t>之间发生计划</a:t>
            </a:r>
            <a:r>
              <a:rPr lang="en-US" altLang="zh-CN" dirty="0" smtClean="0"/>
              <a:t>/</a:t>
            </a:r>
            <a:r>
              <a:rPr lang="zh-CN" altLang="en-US" dirty="0" smtClean="0"/>
              <a:t>非计划切换的时候，在备机到</a:t>
            </a:r>
            <a:r>
              <a:rPr lang="zh-CN" altLang="en-US" dirty="0"/>
              <a:t>灾备</a:t>
            </a:r>
            <a:r>
              <a:rPr lang="zh-CN" altLang="en-US" dirty="0" smtClean="0"/>
              <a:t>机</a:t>
            </a:r>
            <a:r>
              <a:rPr lang="en-US" altLang="zh-CN" dirty="0" smtClean="0"/>
              <a:t>MMA</a:t>
            </a:r>
            <a:r>
              <a:rPr lang="zh-CN" altLang="en-US" dirty="0" smtClean="0"/>
              <a:t>之间启用备用</a:t>
            </a:r>
            <a:r>
              <a:rPr lang="en-US" altLang="zh-CN" dirty="0" err="1" smtClean="0"/>
              <a:t>iCluster</a:t>
            </a:r>
            <a:r>
              <a:rPr lang="zh-CN" altLang="en-US" dirty="0" smtClean="0"/>
              <a:t>复制链路。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75656" y="342900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MM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27784" y="126876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iCluster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8843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346075"/>
          </a:xfrm>
        </p:spPr>
        <p:txBody>
          <a:bodyPr/>
          <a:lstStyle/>
          <a:p>
            <a:r>
              <a:rPr lang="zh-CN" altLang="en-US" dirty="0" smtClean="0"/>
              <a:t>国内</a:t>
            </a:r>
            <a:r>
              <a:rPr lang="en-US" altLang="zh-CN" dirty="0" err="1" smtClean="0"/>
              <a:t>iCluster</a:t>
            </a:r>
            <a:r>
              <a:rPr lang="zh-CN" altLang="en-US" dirty="0" smtClean="0"/>
              <a:t>客户名单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甘肃农信</a:t>
            </a:r>
            <a:endParaRPr lang="en-US" altLang="zh-CN" dirty="0" smtClean="0"/>
          </a:p>
          <a:p>
            <a:r>
              <a:rPr lang="zh-CN" altLang="en-US" dirty="0"/>
              <a:t>东莞农</a:t>
            </a:r>
            <a:r>
              <a:rPr lang="zh-CN" altLang="en-US" dirty="0" smtClean="0"/>
              <a:t>信</a:t>
            </a:r>
            <a:endParaRPr lang="en-US" altLang="zh-CN" dirty="0" smtClean="0"/>
          </a:p>
          <a:p>
            <a:r>
              <a:rPr lang="zh-CN" altLang="en-US" dirty="0"/>
              <a:t>顺德农</a:t>
            </a:r>
            <a:r>
              <a:rPr lang="zh-CN" altLang="en-US" dirty="0" smtClean="0"/>
              <a:t>信</a:t>
            </a:r>
            <a:endParaRPr lang="en-US" altLang="zh-CN" dirty="0" smtClean="0"/>
          </a:p>
          <a:p>
            <a:r>
              <a:rPr lang="zh-CN" altLang="en-US" dirty="0" smtClean="0"/>
              <a:t>宁波银行</a:t>
            </a:r>
            <a:endParaRPr lang="en-US" altLang="zh-CN" dirty="0" smtClean="0"/>
          </a:p>
          <a:p>
            <a:r>
              <a:rPr lang="zh-CN" altLang="en-US" dirty="0" smtClean="0"/>
              <a:t>青岛银行</a:t>
            </a:r>
            <a:endParaRPr lang="en-US" altLang="zh-CN" dirty="0" smtClean="0"/>
          </a:p>
          <a:p>
            <a:r>
              <a:rPr lang="zh-CN" altLang="en-US" dirty="0"/>
              <a:t>信诚</a:t>
            </a:r>
            <a:r>
              <a:rPr lang="zh-CN" altLang="en-US" dirty="0" smtClean="0"/>
              <a:t>人寿</a:t>
            </a:r>
            <a:endParaRPr lang="en-US" altLang="zh-CN" dirty="0" smtClean="0"/>
          </a:p>
          <a:p>
            <a:r>
              <a:rPr lang="zh-CN" altLang="en-US" dirty="0"/>
              <a:t>广汽</a:t>
            </a:r>
            <a:r>
              <a:rPr lang="zh-CN" altLang="en-US" dirty="0" smtClean="0"/>
              <a:t>本田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121348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19872" y="2996952"/>
            <a:ext cx="223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 smtClean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谢谢！</a:t>
            </a:r>
            <a:endParaRPr lang="zh-CN" altLang="en-US" sz="5400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5674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CIO-GAP">
  <a:themeElements>
    <a:clrScheme name="PRESENTACIO-GA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RESENTACIO-GA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altLang="zh-CN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altLang="zh-CN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RESENTACIO-GA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CIO-GA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CIO-GA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CIO-GA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CIO-GA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CIO-GA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CIO-GA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CIO-GA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CIO-GA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CIO-GA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CIO-GA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CIO-GA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国外简约风格的产品介绍PPT模板</Template>
  <TotalTime>350</TotalTime>
  <Words>906</Words>
  <Application>Microsoft Office PowerPoint</Application>
  <PresentationFormat>全屏显示(4:3)</PresentationFormat>
  <Paragraphs>160</Paragraphs>
  <Slides>23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4" baseType="lpstr">
      <vt:lpstr>PRESENTACIO-GAP</vt:lpstr>
      <vt:lpstr>Rocket iCluster HA solution for IBM System i</vt:lpstr>
      <vt:lpstr>基于IBM System i的高可用技术</vt:lpstr>
      <vt:lpstr>评估高可用方案的指标</vt:lpstr>
      <vt:lpstr>高可用方案的着眼点</vt:lpstr>
      <vt:lpstr>基于日志高可用方案的技术体现</vt:lpstr>
      <vt:lpstr>Duplication Object Type 复制对象类型</vt:lpstr>
      <vt:lpstr>Journal Apply  处理的日志类型</vt:lpstr>
      <vt:lpstr>选择Rocket iCluster的理由</vt:lpstr>
      <vt:lpstr>基于本地日志的数据复制技术</vt:lpstr>
      <vt:lpstr>基于远程日志的数据复制技术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iCluster 产品版本线路图：</vt:lpstr>
      <vt:lpstr>iCluster License &amp; MA</vt:lpstr>
      <vt:lpstr>iCluster 实施案例 1 – 甘肃农信高可用架构</vt:lpstr>
      <vt:lpstr>iCluster 实施案例 2 – 青岛银行高可用方案</vt:lpstr>
      <vt:lpstr>国内iCluster客户名单 </vt:lpstr>
      <vt:lpstr>幻灯片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Rocket iCluster HA solution for IBM System i</dc:title>
  <dc:creator>haha</dc:creator>
  <cp:lastModifiedBy>Windows 用户</cp:lastModifiedBy>
  <cp:revision>26</cp:revision>
  <dcterms:created xsi:type="dcterms:W3CDTF">2013-12-25T14:50:16Z</dcterms:created>
  <dcterms:modified xsi:type="dcterms:W3CDTF">2013-12-30T04:35:36Z</dcterms:modified>
</cp:coreProperties>
</file>